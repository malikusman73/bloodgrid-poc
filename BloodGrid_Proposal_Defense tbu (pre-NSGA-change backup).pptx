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BloodGrid solves two kinds of problems for two kinds of users, in one application. For an individual who needs blood right now, it's about finding the best-matched donor, fast, using NSGA-II. For a blood bank, it's about seeing a shortage coming before it happens, and coordinating with other banks. Both halves matter equally -- that's the whole point of tonight's talk.
Likely question: "Is this one project or two?" -&gt; One integrated application, three computational engines, two stakeholder groups -- detailed on Slide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really two problems here, and neither is more important than the other. An individual seeker needs the best donor, fast, from a pool that's often too large to search manually. A blood bank needs to see a shortage coming, not just react to it. We're solving both -- this slide is deliberately balanced left-to-right, not blood-bank-heavy.
Likely question: "Why does this need optimization/AI rather than just a better app?" -&gt; Because both underlying decisions are non-trivial computational problems, detailed on Slide 5.
Evidence: Jamal et al. 2023 / Ali 2025 (source-derived, not independently verified by Claude -- flag if asked how confident these stats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looked at three existing blood-donation apps and found real practical gaps -- no real donor matching, non-interactive requests, no maps. Those are important, but they're product gaps, not a research contribution on their own. The deeper problem -- the one we actually build BloodGrid's technical contribution on -- comes from the literature: even the most advanced published system in this space treats demand forecasting and donor matching as two separate problems, and explicitly says integrating them is unsolved. That's the gap BloodGrid targets.
'?' cells mean 'not established' -- we do not claim a gap we haven't verified. App screenshots are confirmed to arrive before the defense.
Likely question: "Why aren't the application gaps alone your contribution?" -&gt; Because they are product/workflow gaps; the CCP rests on the deeper research gap, not on feature-parity.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anchored our review on a 2026 narrative review of AI in blood donor management, then expanded outward. The single most important finding is a 2025 paper that builds almost exactly the two components we need -- heuristic donor matching and shortage forecasting -- but its own authors say integrating the two is future work they haven't done. We verified this paper directly rather than taking the summary at face value.
Likely question: "How many papers actually support your central claim?" -&gt; One directly (Belfarsi et al.), independently verified -- be upfront about this being a single-paper anchor for Gaps 1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why BloodGrid is a research-derived FYP, not a course project. We have three separate computational problems that all have to work: a matching problem with objectives that genuinely conflict -- proximity against donor burden, for instance -- a forecasting problem under real uncertainty, and a network-level redistribution problem balancing transfer cost against shortage risk across banks. None of this reduces to 'find nearest donor in the database.'
Likely question: "Isn't three optimization/forecasting components overambitious for one FYP?" -&gt; Yes, and we say so directly -- it's our biggest acknowledged risk. We've mitigated it by scoping each CCP to be built and validated independently before integration, with a documented rule-based fallback specifically for redistribution if it proves infeasible under time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three engines sharing one forecasting signal. The forecasting engine doesn't just produce a report -- its output directly feeds both the donor-matching ranking and the inter-bank redistribution recommendation. That's the actual contribution: not that we built a matcher, and separately a forecaster, but that we built the connective tissue between them and evaluate whether it actually helps.
Likely question: "What's actually novel here vs. engineering integration of known techniques?" -&gt; Be honest: the individual techniques (ARIMA, NSGA-II, transportation optimization) are known; the contribution is the integration and its empirical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not yet run the POC -- deliberately, since we wanted supervisor sign-off on scope before investing implementation time. This is ONE proof of concept covering all three CCPs: seeker-side matching with a map, blood-bank forecasting, and inter-bank redistribution -- not three separate mini-projects. What we can show is that the individual pieces are feasible at this scale: the closest published work achieved strong results with similar synthetic data volumes.
Likely question: "Why present without any results at all?" -&gt; Per our own evidence rules, we will not fabricate results; the POC is correctly sequenced after your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evaluation compares BloodGrid against real, precedented baselines -- not weak strawmen. The central experiment is simple to state: does knowing the forecast change matching and redistribution outcomes for the better? We've also been upfront about risk -- three interacting components is ambitious, so redistribution specifically has a simpler fallback if time runs short.
Likely question: "What if the results are negative?" -&gt; We report them as such; a negative-but-well-executed integration experiment is still a valid, defensible FYP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us owns one full core component end-to-end -- data through algorithm through evaluation -- rather than splitting along documentation-versus-code lines. This split is still provisional; we're presenting it today as a structurally balanced starting point and will confirm actual ownership as a team.
Likely question: "Can each of you defend the others' components?" -&gt; Yes -- that's an explicit design goal, not just a formality.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BloodGrid handles sensitive data -- blood group, location, donation history -- so we've built in data minimization by default: donors' exact location and contact details are never exposed directly to a seeker, only mediated through the platform. Just as importantly, this is not an autonomous clinical decision-maker anywhere in the system -- every match and every inter-bank transfer needs a human to act on it. What we haven't yet done is identify the specific legal/regulatory requirements that apply to us -- we're flagging that honestly as open rather than claiming compliance we haven't verified.
Likely question: "What happens if the system recommends a bad match?" -&gt; Because a human approves every action, a bad recommendation is a UX/quality problem to fix, not a safety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A1F3D"/>
        </a:solidFill>
        <a:effectLst/>
      </p:bgPr>
    </p:bg>
    <p:spTree>
      <p:nvGrpSpPr>
        <p:cNvPr id="1" name=""/>
        <p:cNvGrpSpPr/>
        <p:nvPr/>
      </p:nvGrpSpPr>
      <p:grpSpPr>
        <a:xfrm>
          <a:off x="0" y="0"/>
          <a:ext cx="0" cy="0"/>
          <a:chOff x="0" y="0"/>
          <a:chExt cx="0" cy="0"/>
        </a:xfrm>
      </p:grpSpPr>
      <p:sp>
        <p:nvSpPr>
          <p:cNvPr id="2" name="Shape 0"/>
          <p:cNvSpPr/>
          <p:nvPr/>
        </p:nvSpPr>
        <p:spPr>
          <a:xfrm>
            <a:off x="3718408" y="502920"/>
            <a:ext cx="4754880" cy="4754880"/>
          </a:xfrm>
          <a:prstGeom prst="ellipse">
            <a:avLst/>
          </a:prstGeom>
          <a:solidFill>
            <a:srgbClr val="5E1730">
              <a:alpha val="60000"/>
            </a:srgbClr>
          </a:solidFill>
        </p:spPr>
      </p:sp>
      <p:sp>
        <p:nvSpPr>
          <p:cNvPr id="3" name="Shape 1"/>
          <p:cNvSpPr/>
          <p:nvPr/>
        </p:nvSpPr>
        <p:spPr>
          <a:xfrm>
            <a:off x="5528920" y="1051560"/>
            <a:ext cx="1133856" cy="1133856"/>
          </a:xfrm>
          <a:prstGeom prst="ellipse">
            <a:avLst/>
          </a:prstGeom>
          <a:solidFill>
            <a:srgbClr val="1F2A44"/>
          </a:solidFill>
        </p:spPr>
      </p:sp>
      <p:pic>
        <p:nvPicPr>
          <p:cNvPr id="4" name="Image 0" descr="C:\Users\abdta\AppData\Local\Temp\claude\C--Users-abdta-Desktop-FYP\b6a1f8e1-3045-43d7-9335-432e9d622fbb\scratchpad\pptx_build\icons\droplet.png"/>
          <p:cNvPicPr>
            <a:picLocks noChangeAspect="1"/>
          </p:cNvPicPr>
          <p:nvPr/>
        </p:nvPicPr>
        <p:blipFill>
          <a:blip r:embed="rId1"/>
          <a:stretch>
            <a:fillRect/>
          </a:stretch>
        </p:blipFill>
        <p:spPr>
          <a:xfrm>
            <a:off x="5812384" y="1335024"/>
            <a:ext cx="566928" cy="566928"/>
          </a:xfrm>
          <a:prstGeom prst="rect">
            <a:avLst/>
          </a:prstGeom>
        </p:spPr>
      </p:pic>
      <p:sp>
        <p:nvSpPr>
          <p:cNvPr id="5" name="Text 2"/>
          <p:cNvSpPr txBox="1"/>
          <p:nvPr/>
        </p:nvSpPr>
        <p:spPr>
          <a:xfrm>
            <a:off x="0" y="2331720"/>
            <a:ext cx="12191695" cy="914400"/>
          </a:xfrm>
          <a:prstGeom prst="rect">
            <a:avLst/>
          </a:prstGeom>
          <a:noFill/>
        </p:spPr>
        <p:txBody>
          <a:bodyPr wrap="square" lIns="0" tIns="0" rIns="0" bIns="0" rtlCol="0" anchor="ctr"/>
          <a:lstStyle/>
          <a:p>
            <a:pPr marL="0" indent="0" algn="ctr">
              <a:buNone/>
            </a:pPr>
            <a:r>
              <a:rPr lang="en-US" sz="5400" b="1" dirty="0">
                <a:solidFill>
                  <a:srgbClr val="FFFFFF"/>
                </a:solidFill>
                <a:latin typeface="Cambria" panose="02040503050406030204" pitchFamily="34" charset="0"/>
                <a:ea typeface="Cambria" panose="02040503050406030204" pitchFamily="34" charset="-122"/>
                <a:cs typeface="Cambria" panose="02040503050406030204" pitchFamily="34" charset="-120"/>
              </a:rPr>
              <a:t>BloodGrid</a:t>
            </a:r>
            <a:endParaRPr lang="en-US" sz="5400" dirty="0"/>
          </a:p>
        </p:txBody>
      </p:sp>
      <p:sp>
        <p:nvSpPr>
          <p:cNvPr id="6" name="Text 3"/>
          <p:cNvSpPr txBox="1"/>
          <p:nvPr/>
        </p:nvSpPr>
        <p:spPr>
          <a:xfrm>
            <a:off x="0" y="3246120"/>
            <a:ext cx="12191695" cy="457200"/>
          </a:xfrm>
          <a:prstGeom prst="rect">
            <a:avLst/>
          </a:prstGeom>
          <a:noFill/>
        </p:spPr>
        <p:txBody>
          <a:bodyPr wrap="square" lIns="0" tIns="0" rIns="0" bIns="0" rtlCol="0" anchor="ctr"/>
          <a:lstStyle/>
          <a:p>
            <a:pPr marL="0" indent="0" algn="ctr">
              <a:buNone/>
            </a:pPr>
            <a:r>
              <a:rPr lang="en-US" sz="1800" i="1" dirty="0">
                <a:solidFill>
                  <a:srgbClr val="E7C9D3"/>
                </a:solidFill>
                <a:latin typeface="Calibri" panose="020F0502020204030204" pitchFamily="34" charset="0"/>
                <a:ea typeface="Calibri" panose="020F0502020204030204" pitchFamily="34" charset="-122"/>
                <a:cs typeface="Calibri" panose="020F0502020204030204" pitchFamily="34" charset="-120"/>
              </a:rPr>
              <a:t>An Integrated Blood Coordination Platform for Individuals and Blood Banks</a:t>
            </a:r>
            <a:endParaRPr lang="en-US" sz="1800" dirty="0"/>
          </a:p>
        </p:txBody>
      </p:sp>
      <p:sp>
        <p:nvSpPr>
          <p:cNvPr id="7" name="Shape 4"/>
          <p:cNvSpPr/>
          <p:nvPr/>
        </p:nvSpPr>
        <p:spPr>
          <a:xfrm>
            <a:off x="1889608" y="3886200"/>
            <a:ext cx="8412480" cy="868680"/>
          </a:xfrm>
          <a:prstGeom prst="roundRect">
            <a:avLst>
              <a:gd name="adj" fmla="val 8421"/>
            </a:avLst>
          </a:prstGeom>
          <a:solidFill>
            <a:srgbClr val="5E1730"/>
          </a:solidFill>
          <a:effectLst>
            <a:outerShdw blurRad="76200" dist="25400" dir="5400000" algn="bl" rotWithShape="0">
              <a:srgbClr val="3A2530">
                <a:alpha val="18000"/>
              </a:srgbClr>
            </a:outerShdw>
          </a:effectLst>
        </p:spPr>
      </p:sp>
      <p:sp>
        <p:nvSpPr>
          <p:cNvPr id="8" name="Text 5"/>
          <p:cNvSpPr txBox="1"/>
          <p:nvPr/>
        </p:nvSpPr>
        <p:spPr>
          <a:xfrm>
            <a:off x="2163928" y="3977640"/>
            <a:ext cx="7863840" cy="713232"/>
          </a:xfrm>
          <a:prstGeom prst="rect">
            <a:avLst/>
          </a:prstGeom>
          <a:noFill/>
        </p:spPr>
        <p:txBody>
          <a:bodyPr wrap="square" lIns="0" tIns="0" rIns="0" bIns="0" rtlCol="0" anchor="ctr"/>
          <a:lstStyle/>
          <a:p>
            <a:pPr marL="0" indent="0" algn="ctr">
              <a:buNone/>
            </a:pPr>
            <a:r>
              <a:rPr lang="en-US" sz="1350" i="1" dirty="0">
                <a:solidFill>
                  <a:srgbClr val="FFFFFF"/>
                </a:solidFill>
                <a:latin typeface="Calibri" panose="020F0502020204030204" pitchFamily="34" charset="0"/>
                <a:ea typeface="Calibri" panose="020F0502020204030204" pitchFamily="34" charset="-122"/>
                <a:cs typeface="Calibri" panose="020F0502020204030204" pitchFamily="34" charset="-120"/>
              </a:rPr>
              <a:t>BloodGrid helps individuals find the most suitable available blood donors, while helping blood banks anticipate future demand and prepare before shortages occur.</a:t>
            </a:r>
            <a:endParaRPr lang="en-US" sz="1350" dirty="0"/>
          </a:p>
        </p:txBody>
      </p:sp>
      <p:sp>
        <p:nvSpPr>
          <p:cNvPr id="9" name="Text 6"/>
          <p:cNvSpPr txBox="1"/>
          <p:nvPr/>
        </p:nvSpPr>
        <p:spPr>
          <a:xfrm>
            <a:off x="0" y="5074920"/>
            <a:ext cx="12191695" cy="365760"/>
          </a:xfrm>
          <a:prstGeom prst="rect">
            <a:avLst/>
          </a:prstGeom>
          <a:noFill/>
        </p:spPr>
        <p:txBody>
          <a:bodyPr wrap="square" lIns="0" tIns="0" rIns="0" bIns="0" rtlCol="0" anchor="ctr"/>
          <a:lstStyle/>
          <a:p>
            <a:pPr marL="0" indent="0" algn="ctr">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Abdullah Tariq   •   Malik Usman   •   Rizwan Saeed</a:t>
            </a:r>
            <a:endParaRPr lang="en-US" sz="1500" dirty="0"/>
          </a:p>
        </p:txBody>
      </p:sp>
      <p:sp>
        <p:nvSpPr>
          <p:cNvPr id="10" name="Text 7"/>
          <p:cNvSpPr txBox="1"/>
          <p:nvPr/>
        </p:nvSpPr>
        <p:spPr>
          <a:xfrm>
            <a:off x="0" y="5413248"/>
            <a:ext cx="12191695" cy="320040"/>
          </a:xfrm>
          <a:prstGeom prst="rect">
            <a:avLst/>
          </a:prstGeom>
          <a:noFill/>
        </p:spPr>
        <p:txBody>
          <a:bodyPr wrap="square" lIns="0" tIns="0" rIns="0" bIns="0" rtlCol="0" anchor="ctr"/>
          <a:lstStyle/>
          <a:p>
            <a:pPr marL="0" indent="0" algn="ctr">
              <a:buNone/>
            </a:pPr>
            <a:r>
              <a:rPr lang="en-US" sz="1150" dirty="0">
                <a:solidFill>
                  <a:srgbClr val="D8B7C1"/>
                </a:solidFill>
                <a:latin typeface="Calibri" panose="020F0502020204030204" pitchFamily="34" charset="0"/>
                <a:ea typeface="Calibri" panose="020F0502020204030204" pitchFamily="34" charset="-122"/>
                <a:cs typeface="Calibri" panose="020F0502020204030204" pitchFamily="34" charset="-120"/>
              </a:rPr>
              <a:t>Supervisor: [INSERT SUPERVISOR NAME]   ·   [INSERT DEPARTMENT]   ·   [INSERT UNIVERSITY]   ·   [INSERT DATE]</a:t>
            </a:r>
            <a:endParaRPr lang="en-US" sz="1150" dirty="0"/>
          </a:p>
        </p:txBody>
      </p:sp>
      <p:sp>
        <p:nvSpPr>
          <p:cNvPr id="11" name="Text 8"/>
          <p:cNvSpPr txBox="1"/>
          <p:nvPr/>
        </p:nvSpPr>
        <p:spPr>
          <a:xfrm>
            <a:off x="0" y="6217920"/>
            <a:ext cx="12191695" cy="274320"/>
          </a:xfrm>
          <a:prstGeom prst="rect">
            <a:avLst/>
          </a:prstGeom>
          <a:noFill/>
        </p:spPr>
        <p:txBody>
          <a:bodyPr wrap="square" lIns="0" tIns="0" rIns="0" bIns="0" rtlCol="0" anchor="ctr"/>
          <a:lstStyle/>
          <a:p>
            <a:pPr marL="0" indent="0" algn="ctr">
              <a:buNone/>
            </a:pPr>
            <a:r>
              <a:rPr lang="en-US" sz="1050" dirty="0">
                <a:solidFill>
                  <a:srgbClr val="C9A9B2"/>
                </a:solidFill>
                <a:latin typeface="Calibri" panose="020F0502020204030204" pitchFamily="34" charset="0"/>
                <a:ea typeface="Calibri" panose="020F0502020204030204" pitchFamily="34" charset="-122"/>
                <a:cs typeface="Calibri" panose="020F0502020204030204" pitchFamily="34" charset="-120"/>
              </a:rPr>
              <a:t>Research-Derived Final Year Project  ·  BS Software Engineering</a:t>
            </a:r>
            <a:endParaRPr lang="en-US" sz="1050" dirty="0"/>
          </a:p>
        </p:txBody>
      </p:sp>
      <p:sp>
        <p:nvSpPr>
          <p:cNvPr id="12" name="Text 9"/>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C9C4C8"/>
                </a:solidFill>
                <a:latin typeface="Calibri" panose="020F0502020204030204" pitchFamily="34" charset="0"/>
                <a:ea typeface="Calibri" panose="020F0502020204030204" pitchFamily="34" charset="-122"/>
                <a:cs typeface="Calibri" panose="020F0502020204030204" pitchFamily="34" charset="-120"/>
              </a:rPr>
              <a:t>01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2</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The Problem, and Who It Affects</a:t>
            </a:r>
            <a:endParaRPr lang="en-US" sz="3000" dirty="0"/>
          </a:p>
        </p:txBody>
      </p:sp>
      <p:sp>
        <p:nvSpPr>
          <p:cNvPr id="5" name="Shape 3"/>
          <p:cNvSpPr/>
          <p:nvPr/>
        </p:nvSpPr>
        <p:spPr>
          <a:xfrm>
            <a:off x="548640" y="1417320"/>
            <a:ext cx="5349240" cy="4434840"/>
          </a:xfrm>
          <a:prstGeom prst="roundRect">
            <a:avLst>
              <a:gd name="adj" fmla="val 1649"/>
            </a:avLst>
          </a:prstGeom>
          <a:solidFill>
            <a:srgbClr val="F6EEF1"/>
          </a:solidFill>
          <a:effectLst>
            <a:outerShdw blurRad="76200" dist="25400" dir="5400000" algn="bl" rotWithShape="0">
              <a:srgbClr val="3A2530">
                <a:alpha val="18000"/>
              </a:srgbClr>
            </a:outerShdw>
          </a:effectLst>
        </p:spPr>
      </p:sp>
      <p:sp>
        <p:nvSpPr>
          <p:cNvPr id="6" name="Shape 4"/>
          <p:cNvSpPr/>
          <p:nvPr/>
        </p:nvSpPr>
        <p:spPr>
          <a:xfrm>
            <a:off x="2811780" y="1645920"/>
            <a:ext cx="822960" cy="822960"/>
          </a:xfrm>
          <a:prstGeom prst="ellipse">
            <a:avLst/>
          </a:prstGeom>
          <a:solidFill>
            <a:srgbClr val="7A1F3D"/>
          </a:solidFill>
        </p:spPr>
      </p:sp>
      <p:pic>
        <p:nvPicPr>
          <p:cNvPr id="7" name="Image 0" descr="C:\Users\abdta\AppData\Local\Temp\claude\C--Users-abdta-Desktop-FYP\b6a1f8e1-3045-43d7-9335-432e9d622fbb\scratchpad\pptx_build\icons\seeker.png"/>
          <p:cNvPicPr>
            <a:picLocks noChangeAspect="1"/>
          </p:cNvPicPr>
          <p:nvPr/>
        </p:nvPicPr>
        <p:blipFill>
          <a:blip r:embed="rId1"/>
          <a:stretch>
            <a:fillRect/>
          </a:stretch>
        </p:blipFill>
        <p:spPr>
          <a:xfrm>
            <a:off x="3009290" y="1843430"/>
            <a:ext cx="427939" cy="427939"/>
          </a:xfrm>
          <a:prstGeom prst="rect">
            <a:avLst/>
          </a:prstGeom>
        </p:spPr>
      </p:pic>
      <p:sp>
        <p:nvSpPr>
          <p:cNvPr id="8" name="Text 5"/>
          <p:cNvSpPr txBox="1"/>
          <p:nvPr/>
        </p:nvSpPr>
        <p:spPr>
          <a:xfrm>
            <a:off x="731520" y="2560320"/>
            <a:ext cx="4983480" cy="320040"/>
          </a:xfrm>
          <a:prstGeom prst="rect">
            <a:avLst/>
          </a:prstGeom>
          <a:noFill/>
        </p:spPr>
        <p:txBody>
          <a:bodyPr wrap="square" lIns="0" tIns="0" rIns="0" bIns="0" rtlCol="0" anchor="ctr"/>
          <a:lstStyle/>
          <a:p>
            <a:pPr marL="0" indent="0" algn="ctr">
              <a:buNone/>
            </a:pPr>
            <a:r>
              <a:rPr lang="en-US" sz="1150" b="1" kern="0" spc="100" dirty="0">
                <a:solidFill>
                  <a:srgbClr val="7A1F3D"/>
                </a:solidFill>
                <a:latin typeface="Calibri" panose="020F0502020204030204" pitchFamily="34" charset="0"/>
                <a:ea typeface="Calibri" panose="020F0502020204030204" pitchFamily="34" charset="-122"/>
                <a:cs typeface="Calibri" panose="020F0502020204030204" pitchFamily="34" charset="-120"/>
              </a:rPr>
              <a:t>INDIVIDUAL BLOOD SEEKER</a:t>
            </a:r>
            <a:endParaRPr lang="en-US" sz="1150" dirty="0"/>
          </a:p>
        </p:txBody>
      </p:sp>
      <p:sp>
        <p:nvSpPr>
          <p:cNvPr id="9" name="Text 6"/>
          <p:cNvSpPr txBox="1"/>
          <p:nvPr/>
        </p:nvSpPr>
        <p:spPr>
          <a:xfrm>
            <a:off x="914400" y="2926080"/>
            <a:ext cx="4617720" cy="777240"/>
          </a:xfrm>
          <a:prstGeom prst="rect">
            <a:avLst/>
          </a:prstGeom>
          <a:noFill/>
        </p:spPr>
        <p:txBody>
          <a:bodyPr wrap="square" lIns="0" tIns="0" rIns="0" bIns="0" rtlCol="0" anchor="ctr"/>
          <a:lstStyle/>
          <a:p>
            <a:pPr marL="0" indent="0" algn="ctr">
              <a:lnSpc>
                <a:spcPct val="115000"/>
              </a:lnSpc>
              <a:buNone/>
            </a:pPr>
            <a:r>
              <a:rPr lang="en-US" sz="1250" i="1" dirty="0">
                <a:solidFill>
                  <a:srgbClr val="1F2A44"/>
                </a:solidFill>
                <a:latin typeface="Calibri" panose="020F0502020204030204" pitchFamily="34" charset="0"/>
                <a:ea typeface="Calibri" panose="020F0502020204030204" pitchFamily="34" charset="-122"/>
                <a:cs typeface="Calibri" panose="020F0502020204030204" pitchFamily="34" charset="-120"/>
              </a:rPr>
              <a:t>"Who is the best available donor for my blood request, and where can I find them?"</a:t>
            </a:r>
            <a:endParaRPr lang="en-US" sz="1250" dirty="0"/>
          </a:p>
        </p:txBody>
      </p:sp>
      <p:sp>
        <p:nvSpPr>
          <p:cNvPr id="10" name="Text 7"/>
          <p:cNvSpPr txBox="1"/>
          <p:nvPr/>
        </p:nvSpPr>
        <p:spPr>
          <a:xfrm>
            <a:off x="914400" y="3840480"/>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7A1F3D"/>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Difficulty finding compatible donors quickly</a:t>
            </a:r>
            <a:endParaRPr lang="en-US" sz="1150" dirty="0"/>
          </a:p>
        </p:txBody>
      </p:sp>
      <p:sp>
        <p:nvSpPr>
          <p:cNvPr id="11" name="Text 8"/>
          <p:cNvSpPr txBox="1"/>
          <p:nvPr/>
        </p:nvSpPr>
        <p:spPr>
          <a:xfrm>
            <a:off x="914400" y="4407408"/>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7A1F3D"/>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Uncertain donor availability</a:t>
            </a:r>
            <a:endParaRPr lang="en-US" sz="1150" dirty="0"/>
          </a:p>
        </p:txBody>
      </p:sp>
      <p:sp>
        <p:nvSpPr>
          <p:cNvPr id="12" name="Text 9"/>
          <p:cNvSpPr txBox="1"/>
          <p:nvPr/>
        </p:nvSpPr>
        <p:spPr>
          <a:xfrm>
            <a:off x="914400" y="4974336"/>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7A1F3D"/>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No intelligent prioritization among candidates</a:t>
            </a:r>
            <a:endParaRPr lang="en-US" sz="1150" dirty="0"/>
          </a:p>
        </p:txBody>
      </p:sp>
      <p:sp>
        <p:nvSpPr>
          <p:cNvPr id="13" name="Shape 10"/>
          <p:cNvSpPr/>
          <p:nvPr/>
        </p:nvSpPr>
        <p:spPr>
          <a:xfrm>
            <a:off x="6263640" y="1417320"/>
            <a:ext cx="5349240" cy="4434840"/>
          </a:xfrm>
          <a:prstGeom prst="roundRect">
            <a:avLst>
              <a:gd name="adj" fmla="val 1649"/>
            </a:avLst>
          </a:prstGeom>
          <a:solidFill>
            <a:srgbClr val="F6EEF1"/>
          </a:solidFill>
          <a:effectLst>
            <a:outerShdw blurRad="76200" dist="25400" dir="5400000" algn="bl" rotWithShape="0">
              <a:srgbClr val="3A2530">
                <a:alpha val="18000"/>
              </a:srgbClr>
            </a:outerShdw>
          </a:effectLst>
        </p:spPr>
      </p:sp>
      <p:sp>
        <p:nvSpPr>
          <p:cNvPr id="14" name="Shape 11"/>
          <p:cNvSpPr/>
          <p:nvPr/>
        </p:nvSpPr>
        <p:spPr>
          <a:xfrm>
            <a:off x="8526780" y="1645920"/>
            <a:ext cx="822960" cy="822960"/>
          </a:xfrm>
          <a:prstGeom prst="ellipse">
            <a:avLst/>
          </a:prstGeom>
          <a:solidFill>
            <a:srgbClr val="1F2A44"/>
          </a:solidFill>
        </p:spPr>
      </p:sp>
      <p:pic>
        <p:nvPicPr>
          <p:cNvPr id="15" name="Image 1" descr="C:\Users\abdta\AppData\Local\Temp\claude\C--Users-abdta-Desktop-FYP\b6a1f8e1-3045-43d7-9335-432e9d622fbb\scratchpad\pptx_build\icons\bank.png"/>
          <p:cNvPicPr>
            <a:picLocks noChangeAspect="1"/>
          </p:cNvPicPr>
          <p:nvPr/>
        </p:nvPicPr>
        <p:blipFill>
          <a:blip r:embed="rId2"/>
          <a:stretch>
            <a:fillRect/>
          </a:stretch>
        </p:blipFill>
        <p:spPr>
          <a:xfrm>
            <a:off x="8724290" y="1843430"/>
            <a:ext cx="427939" cy="427939"/>
          </a:xfrm>
          <a:prstGeom prst="rect">
            <a:avLst/>
          </a:prstGeom>
        </p:spPr>
      </p:pic>
      <p:sp>
        <p:nvSpPr>
          <p:cNvPr id="16" name="Text 12"/>
          <p:cNvSpPr txBox="1"/>
          <p:nvPr/>
        </p:nvSpPr>
        <p:spPr>
          <a:xfrm>
            <a:off x="6446520" y="2560320"/>
            <a:ext cx="4983480" cy="320040"/>
          </a:xfrm>
          <a:prstGeom prst="rect">
            <a:avLst/>
          </a:prstGeom>
          <a:noFill/>
        </p:spPr>
        <p:txBody>
          <a:bodyPr wrap="square" lIns="0" tIns="0" rIns="0" bIns="0" rtlCol="0" anchor="ctr"/>
          <a:lstStyle/>
          <a:p>
            <a:pPr marL="0" indent="0" algn="ctr">
              <a:buNone/>
            </a:pPr>
            <a:r>
              <a:rPr lang="en-US" sz="1150" b="1" kern="0" spc="100" dirty="0">
                <a:solidFill>
                  <a:srgbClr val="1F2A44"/>
                </a:solidFill>
                <a:latin typeface="Calibri" panose="020F0502020204030204" pitchFamily="34" charset="0"/>
                <a:ea typeface="Calibri" panose="020F0502020204030204" pitchFamily="34" charset="-122"/>
                <a:cs typeface="Calibri" panose="020F0502020204030204" pitchFamily="34" charset="-120"/>
              </a:rPr>
              <a:t>BLOOD BANK</a:t>
            </a:r>
            <a:endParaRPr lang="en-US" sz="1150" dirty="0"/>
          </a:p>
        </p:txBody>
      </p:sp>
      <p:sp>
        <p:nvSpPr>
          <p:cNvPr id="17" name="Text 13"/>
          <p:cNvSpPr txBox="1"/>
          <p:nvPr/>
        </p:nvSpPr>
        <p:spPr>
          <a:xfrm>
            <a:off x="6629400" y="2926080"/>
            <a:ext cx="4617720" cy="777240"/>
          </a:xfrm>
          <a:prstGeom prst="rect">
            <a:avLst/>
          </a:prstGeom>
          <a:noFill/>
        </p:spPr>
        <p:txBody>
          <a:bodyPr wrap="square" lIns="0" tIns="0" rIns="0" bIns="0" rtlCol="0" anchor="ctr"/>
          <a:lstStyle/>
          <a:p>
            <a:pPr marL="0" indent="0" algn="ctr">
              <a:lnSpc>
                <a:spcPct val="115000"/>
              </a:lnSpc>
              <a:buNone/>
            </a:pPr>
            <a:r>
              <a:rPr lang="en-US" sz="1250" i="1" dirty="0">
                <a:solidFill>
                  <a:srgbClr val="1F2A44"/>
                </a:solidFill>
                <a:latin typeface="Calibri" panose="020F0502020204030204" pitchFamily="34" charset="0"/>
                <a:ea typeface="Calibri" panose="020F0502020204030204" pitchFamily="34" charset="-122"/>
                <a:cs typeface="Calibri" panose="020F0502020204030204" pitchFamily="34" charset="-120"/>
              </a:rPr>
              <a:t>"What blood demand is likely to occur, and how can we prepare beforehand?"</a:t>
            </a:r>
            <a:endParaRPr lang="en-US" sz="1250" dirty="0"/>
          </a:p>
        </p:txBody>
      </p:sp>
      <p:sp>
        <p:nvSpPr>
          <p:cNvPr id="18" name="Text 14"/>
          <p:cNvSpPr txBox="1"/>
          <p:nvPr/>
        </p:nvSpPr>
        <p:spPr>
          <a:xfrm>
            <a:off x="6629400" y="3840480"/>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1F2A44"/>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Reacts to shortages only after they occur</a:t>
            </a:r>
            <a:endParaRPr lang="en-US" sz="1150" dirty="0"/>
          </a:p>
        </p:txBody>
      </p:sp>
      <p:sp>
        <p:nvSpPr>
          <p:cNvPr id="19" name="Text 15"/>
          <p:cNvSpPr txBox="1"/>
          <p:nvPr/>
        </p:nvSpPr>
        <p:spPr>
          <a:xfrm>
            <a:off x="6629400" y="4407408"/>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1F2A44"/>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Blood-group-specific demand is hard to anticipate</a:t>
            </a:r>
            <a:endParaRPr lang="en-US" sz="1150" dirty="0"/>
          </a:p>
        </p:txBody>
      </p:sp>
      <p:sp>
        <p:nvSpPr>
          <p:cNvPr id="20" name="Text 16"/>
          <p:cNvSpPr txBox="1"/>
          <p:nvPr/>
        </p:nvSpPr>
        <p:spPr>
          <a:xfrm>
            <a:off x="6629400" y="4974336"/>
            <a:ext cx="4617720" cy="502920"/>
          </a:xfrm>
          <a:prstGeom prst="rect">
            <a:avLst/>
          </a:prstGeom>
          <a:noFill/>
        </p:spPr>
        <p:txBody>
          <a:bodyPr wrap="square" lIns="0" tIns="0" rIns="0" bIns="0" rtlCol="0" anchor="ctr"/>
          <a:lstStyle/>
          <a:p>
            <a:pPr marL="0" indent="0">
              <a:lnSpc>
                <a:spcPct val="110000"/>
              </a:lnSpc>
              <a:buNone/>
            </a:pPr>
            <a:r>
              <a:rPr lang="en-US" sz="1150" b="1" dirty="0">
                <a:solidFill>
                  <a:srgbClr val="1F2A44"/>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F2A44"/>
                </a:solidFill>
                <a:latin typeface="Calibri" panose="020F0502020204030204" pitchFamily="34" charset="0"/>
                <a:ea typeface="Calibri" panose="020F0502020204030204" pitchFamily="34" charset="-122"/>
                <a:cs typeface="Calibri" panose="020F0502020204030204" pitchFamily="34" charset="-120"/>
              </a:rPr>
              <a:t>Inter-bank coordination is manual</a:t>
            </a:r>
            <a:endParaRPr lang="en-US" sz="1150" dirty="0"/>
          </a:p>
        </p:txBody>
      </p:sp>
      <p:sp>
        <p:nvSpPr>
          <p:cNvPr id="21" name="Text 17"/>
          <p:cNvSpPr txBox="1"/>
          <p:nvPr/>
        </p:nvSpPr>
        <p:spPr>
          <a:xfrm>
            <a:off x="548640" y="5623560"/>
            <a:ext cx="11064240" cy="502920"/>
          </a:xfrm>
          <a:prstGeom prst="rect">
            <a:avLst/>
          </a:prstGeom>
          <a:noFill/>
        </p:spPr>
        <p:txBody>
          <a:bodyPr wrap="square" lIns="0" tIns="0" rIns="0" bIns="0" rtlCol="0" anchor="ctr"/>
          <a:lstStyle/>
          <a:p>
            <a:pPr marL="0" indent="0" algn="ctr">
              <a:buNone/>
            </a:pPr>
            <a:r>
              <a:rPr lang="en-US" sz="1100" i="1" dirty="0">
                <a:solidFill>
                  <a:srgbClr val="6B7280"/>
                </a:solidFill>
                <a:latin typeface="Calibri" panose="020F0502020204030204" pitchFamily="34" charset="0"/>
                <a:ea typeface="Calibri" panose="020F0502020204030204" pitchFamily="34" charset="-122"/>
                <a:cs typeface="Calibri" panose="020F0502020204030204" pitchFamily="34" charset="-120"/>
              </a:rPr>
              <a:t>Coordination is inefficient at both levels — neither side is secondary to the other. Locally: 70–91% of Pakistani donations are still informally coordinated replacement donations (Jamal et al. 2023; Ali 2025) [VALIDATE THIS CLAIM].</a:t>
            </a:r>
            <a:endParaRPr lang="en-US" sz="1100" dirty="0"/>
          </a:p>
        </p:txBody>
      </p:sp>
      <p:sp>
        <p:nvSpPr>
          <p:cNvPr id="22" name="Shape 18"/>
          <p:cNvSpPr/>
          <p:nvPr/>
        </p:nvSpPr>
        <p:spPr>
          <a:xfrm>
            <a:off x="548640" y="6172200"/>
            <a:ext cx="5532120" cy="365760"/>
          </a:xfrm>
          <a:prstGeom prst="roundRect">
            <a:avLst>
              <a:gd name="adj" fmla="val 50000"/>
            </a:avLst>
          </a:prstGeom>
          <a:solidFill>
            <a:srgbClr val="F6EEF1"/>
          </a:solidFill>
          <a:ln w="12700">
            <a:solidFill>
              <a:srgbClr val="C9A227"/>
            </a:solidFill>
            <a:prstDash val="solid"/>
          </a:ln>
        </p:spPr>
      </p:sp>
      <p:sp>
        <p:nvSpPr>
          <p:cNvPr id="23" name="Text 19"/>
          <p:cNvSpPr txBox="1"/>
          <p:nvPr/>
        </p:nvSpPr>
        <p:spPr>
          <a:xfrm>
            <a:off x="640080" y="6172200"/>
            <a:ext cx="5349240" cy="365760"/>
          </a:xfrm>
          <a:prstGeom prst="rect">
            <a:avLst/>
          </a:prstGeom>
          <a:noFill/>
        </p:spPr>
        <p:txBody>
          <a:bodyPr wrap="square" lIns="0" tIns="0" rIns="0" bIns="0" rtlCol="0" anchor="ctr"/>
          <a:lstStyle/>
          <a:p>
            <a:pPr marL="0" indent="0">
              <a:buNone/>
            </a:pPr>
            <a:r>
              <a:rPr lang="en-US" sz="1000" b="1" dirty="0">
                <a:solidFill>
                  <a:srgbClr val="7A1F3D"/>
                </a:solidFill>
                <a:latin typeface="Calibri" panose="020F0502020204030204" pitchFamily="34" charset="0"/>
                <a:ea typeface="Calibri" panose="020F0502020204030204" pitchFamily="34" charset="-122"/>
                <a:cs typeface="Calibri" panose="020F0502020204030204" pitchFamily="34" charset="-120"/>
              </a:rPr>
              <a:t>SDG 3 — Good Health &amp; Well-Being</a:t>
            </a:r>
            <a:endParaRPr lang="en-US" sz="1000" dirty="0"/>
          </a:p>
        </p:txBody>
      </p:sp>
      <p:sp>
        <p:nvSpPr>
          <p:cNvPr id="24" name="Shape 20"/>
          <p:cNvSpPr/>
          <p:nvPr/>
        </p:nvSpPr>
        <p:spPr>
          <a:xfrm>
            <a:off x="6263640" y="6172200"/>
            <a:ext cx="5532120" cy="365760"/>
          </a:xfrm>
          <a:prstGeom prst="roundRect">
            <a:avLst>
              <a:gd name="adj" fmla="val 50000"/>
            </a:avLst>
          </a:prstGeom>
          <a:solidFill>
            <a:srgbClr val="F6EEF1"/>
          </a:solidFill>
          <a:ln w="12700">
            <a:solidFill>
              <a:srgbClr val="C9A227"/>
            </a:solidFill>
            <a:prstDash val="solid"/>
          </a:ln>
        </p:spPr>
      </p:sp>
      <p:sp>
        <p:nvSpPr>
          <p:cNvPr id="25" name="Text 21"/>
          <p:cNvSpPr txBox="1"/>
          <p:nvPr/>
        </p:nvSpPr>
        <p:spPr>
          <a:xfrm>
            <a:off x="6355080" y="6172200"/>
            <a:ext cx="5349240" cy="365760"/>
          </a:xfrm>
          <a:prstGeom prst="rect">
            <a:avLst/>
          </a:prstGeom>
          <a:noFill/>
        </p:spPr>
        <p:txBody>
          <a:bodyPr wrap="square" lIns="0" tIns="0" rIns="0" bIns="0" rtlCol="0" anchor="ctr"/>
          <a:lstStyle/>
          <a:p>
            <a:pPr marL="0" indent="0">
              <a:buNone/>
            </a:pPr>
            <a:r>
              <a:rPr lang="en-US" sz="1000" b="1" dirty="0">
                <a:solidFill>
                  <a:srgbClr val="7A1F3D"/>
                </a:solidFill>
                <a:latin typeface="Calibri" panose="020F0502020204030204" pitchFamily="34" charset="0"/>
                <a:ea typeface="Calibri" panose="020F0502020204030204" pitchFamily="34" charset="-122"/>
                <a:cs typeface="Calibri" panose="020F0502020204030204" pitchFamily="34" charset="-120"/>
              </a:rPr>
              <a:t>SDG 9 — Industry, Innovation &amp; Infrastructure</a:t>
            </a:r>
            <a:endParaRPr lang="en-US" sz="1000" dirty="0"/>
          </a:p>
        </p:txBody>
      </p:sp>
      <p:sp>
        <p:nvSpPr>
          <p:cNvPr id="26" name="Text 22"/>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3</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Existing Solutions vs. BloodGrid</a:t>
            </a:r>
            <a:endParaRPr lang="en-US" sz="3000" dirty="0"/>
          </a:p>
        </p:txBody>
      </p:sp>
      <p:graphicFrame>
        <p:nvGraphicFramePr>
          <p:cNvPr id="5" name="Table 0"/>
          <p:cNvGraphicFramePr>
            <a:graphicFrameLocks noGrp="1"/>
          </p:cNvGraphicFramePr>
          <p:nvPr/>
        </p:nvGraphicFramePr>
        <p:xfrm>
          <a:off x="548640" y="1417320"/>
          <a:ext cx="11064240" cy="3200400"/>
        </p:xfrm>
        <a:graphic>
          <a:graphicData uri="http://schemas.openxmlformats.org/drawingml/2006/table">
            <a:tbl>
              <a:tblPr/>
              <a:tblGrid>
                <a:gridCol w="3200400"/>
                <a:gridCol w="1965960"/>
                <a:gridCol w="1965960"/>
                <a:gridCol w="1965960"/>
                <a:gridCol w="1965960"/>
              </a:tblGrid>
              <a:tr h="400050">
                <a:tc>
                  <a:txBody>
                    <a:bodyPr/>
                    <a:lstStyle/>
                    <a:p>
                      <a:pPr marL="0" indent="0" algn="l">
                        <a:buNone/>
                      </a:pPr>
                      <a:r>
                        <a:rPr lang="en-US" sz="1200" b="1" dirty="0">
                          <a:solidFill>
                            <a:srgbClr val="FFFFFF"/>
                          </a:solidFill>
                        </a:rPr>
                        <a:t>Capability</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Blood Donors</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E-blood</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PakDonor</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lgn="ctr">
                        <a:buNone/>
                      </a:pPr>
                      <a:r>
                        <a:rPr lang="en-US" sz="1200" b="1" dirty="0">
                          <a:solidFill>
                            <a:srgbClr val="FFFFFF"/>
                          </a:solidFill>
                        </a:rPr>
                        <a:t>BloodGrid</a:t>
                      </a:r>
                      <a:endParaRPr lang="en-US" sz="120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7A1F3D"/>
                    </a:solidFill>
                  </a:tcPr>
                </a:tc>
              </a:tr>
              <a:tr h="400050">
                <a:tc>
                  <a:txBody>
                    <a:bodyPr/>
                    <a:lstStyle/>
                    <a:p>
                      <a:pPr marL="0" indent="0" algn="l">
                        <a:buNone/>
                      </a:pPr>
                      <a:r>
                        <a:rPr lang="en-US" sz="1150" dirty="0">
                          <a:solidFill>
                            <a:srgbClr val="1F2A44"/>
                          </a:solidFill>
                        </a:rPr>
                        <a:t>Hospital information</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9B3B3B"/>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9B3B3B"/>
                          </a:solidFill>
                          <a:sym typeface="+mn-ea"/>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2E7D4F"/>
                          </a:solidFill>
                          <a:sym typeface="+mn-ea"/>
                        </a:rPr>
                        <a:t>✓</a:t>
                      </a:r>
                      <a:endParaRPr lang="en-US" sz="1050" dirty="0"/>
                    </a:p>
                    <a:p>
                      <a:pPr marL="0" indent="0" algn="ctr">
                        <a:buNone/>
                      </a:pP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Donor matching</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dirty="0"/>
                        <a:t>No Data</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dirty="0"/>
                        <a:t>No Data</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p>
                      <a:pPr marL="0" indent="0" algn="ctr">
                        <a:buNone/>
                      </a:pP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Interactive requests</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dirty="0"/>
                        <a:t>No Data</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dirty="0"/>
                        <a:t>No Data</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150" dirty="0"/>
                        <a:t>✓</a:t>
                      </a:r>
                      <a:endParaRPr lang="en-US" altLang="en-US" sz="1150" dirty="0"/>
                    </a:p>
                    <a:p>
                      <a:pPr marL="0" indent="0" algn="ctr">
                        <a:buNone/>
                      </a:pPr>
                      <a:endParaRPr lang="en-US" alt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Maps integration</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9B3B3B"/>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Blood-bank coordination</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Demand forecasting</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altLang="en-US" sz="1050" dirty="0"/>
                        <a:t>✗</a:t>
                      </a:r>
                      <a:endParaRPr lang="en-US" alt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400050">
                <a:tc>
                  <a:txBody>
                    <a:bodyPr/>
                    <a:lstStyle/>
                    <a:p>
                      <a:pPr marL="0" indent="0" algn="l">
                        <a:buNone/>
                      </a:pPr>
                      <a:r>
                        <a:rPr lang="en-US" sz="1150" dirty="0">
                          <a:solidFill>
                            <a:srgbClr val="1F2A44"/>
                          </a:solidFill>
                        </a:rPr>
                        <a:t>Forecast-informed matching</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6B7280"/>
                          </a:solidFill>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6B7280"/>
                          </a:solidFill>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050" i="1" dirty="0">
                          <a:solidFill>
                            <a:srgbClr val="6B7280"/>
                          </a:solidFill>
                        </a:rPr>
                        <a:t>?</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E7D4F"/>
                          </a:solidFill>
                        </a:rPr>
                        <a:t>✓</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bl>
          </a:graphicData>
        </a:graphic>
      </p:graphicFrame>
      <p:sp>
        <p:nvSpPr>
          <p:cNvPr id="7" name="Shape 4"/>
          <p:cNvSpPr/>
          <p:nvPr/>
        </p:nvSpPr>
        <p:spPr>
          <a:xfrm>
            <a:off x="548640" y="4892040"/>
            <a:ext cx="5394960" cy="1417320"/>
          </a:xfrm>
          <a:prstGeom prst="roundRect">
            <a:avLst>
              <a:gd name="adj" fmla="val 5161"/>
            </a:avLst>
          </a:prstGeom>
          <a:solidFill>
            <a:srgbClr val="F6EEF1"/>
          </a:solidFill>
          <a:effectLst>
            <a:outerShdw blurRad="76200" dist="25400" dir="5400000" algn="bl" rotWithShape="0">
              <a:srgbClr val="3A2530">
                <a:alpha val="18000"/>
              </a:srgbClr>
            </a:outerShdw>
          </a:effectLst>
        </p:spPr>
      </p:sp>
      <p:sp>
        <p:nvSpPr>
          <p:cNvPr id="8" name="Text 5"/>
          <p:cNvSpPr txBox="1"/>
          <p:nvPr/>
        </p:nvSpPr>
        <p:spPr>
          <a:xfrm>
            <a:off x="777240" y="5029200"/>
            <a:ext cx="4937760" cy="1143000"/>
          </a:xfrm>
          <a:prstGeom prst="rect">
            <a:avLst/>
          </a:prstGeom>
          <a:noFill/>
        </p:spPr>
        <p:txBody>
          <a:bodyPr wrap="square" lIns="0" tIns="0" rIns="0" bIns="0" rtlCol="0" anchor="ctr"/>
          <a:lstStyle/>
          <a:p>
            <a:pPr marL="0" indent="0">
              <a:lnSpc>
                <a:spcPct val="110000"/>
              </a:lnSpc>
              <a:buNone/>
            </a:pP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PRODUCT GAP
</a:t>
            </a:r>
            <a:r>
              <a:rPr lang="en-US" sz="1100" dirty="0">
                <a:solidFill>
                  <a:srgbClr val="1F2A44"/>
                </a:solidFill>
                <a:latin typeface="Calibri" panose="020F0502020204030204" pitchFamily="34" charset="0"/>
                <a:ea typeface="Calibri" panose="020F0502020204030204" pitchFamily="34" charset="-122"/>
                <a:cs typeface="Calibri" panose="020F0502020204030204" pitchFamily="34" charset="-120"/>
              </a:rPr>
              <a:t>Missing features in existing apps — shows the practical coordination need is real.</a:t>
            </a:r>
            <a:endParaRPr lang="en-US" sz="1200" dirty="0"/>
          </a:p>
        </p:txBody>
      </p:sp>
      <p:sp>
        <p:nvSpPr>
          <p:cNvPr id="9" name="Shape 6"/>
          <p:cNvSpPr/>
          <p:nvPr/>
        </p:nvSpPr>
        <p:spPr>
          <a:xfrm>
            <a:off x="6217920" y="4892040"/>
            <a:ext cx="5394960" cy="1417320"/>
          </a:xfrm>
          <a:prstGeom prst="roundRect">
            <a:avLst>
              <a:gd name="adj" fmla="val 5161"/>
            </a:avLst>
          </a:prstGeom>
          <a:solidFill>
            <a:srgbClr val="F6EEF1"/>
          </a:solidFill>
          <a:effectLst>
            <a:outerShdw blurRad="76200" dist="25400" dir="5400000" algn="bl" rotWithShape="0">
              <a:srgbClr val="3A2530">
                <a:alpha val="18000"/>
              </a:srgbClr>
            </a:outerShdw>
          </a:effectLst>
        </p:spPr>
      </p:sp>
      <p:sp>
        <p:nvSpPr>
          <p:cNvPr id="10" name="Text 7"/>
          <p:cNvSpPr txBox="1"/>
          <p:nvPr/>
        </p:nvSpPr>
        <p:spPr>
          <a:xfrm>
            <a:off x="6446520" y="5029200"/>
            <a:ext cx="4937760" cy="1143000"/>
          </a:xfrm>
          <a:prstGeom prst="rect">
            <a:avLst/>
          </a:prstGeom>
          <a:noFill/>
        </p:spPr>
        <p:txBody>
          <a:bodyPr wrap="square" lIns="0" tIns="0" rIns="0" bIns="0" rtlCol="0" anchor="ctr"/>
          <a:lstStyle/>
          <a:p>
            <a:pPr marL="0" indent="0">
              <a:lnSpc>
                <a:spcPct val="110000"/>
              </a:lnSpc>
              <a:buNone/>
            </a:pP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RESEARCH GAP
</a:t>
            </a:r>
            <a:r>
              <a:rPr lang="en-US" sz="1100" dirty="0">
                <a:solidFill>
                  <a:srgbClr val="1F2A44"/>
                </a:solidFill>
                <a:latin typeface="Calibri" panose="020F0502020204030204" pitchFamily="34" charset="0"/>
                <a:ea typeface="Calibri" panose="020F0502020204030204" pitchFamily="34" charset="-122"/>
                <a:cs typeface="Calibri" panose="020F0502020204030204" pitchFamily="34" charset="-120"/>
              </a:rPr>
              <a:t>Forecasting/matching/Bank Coordination never integrated in the literature; this is what BloodGrid’s CCP is built on.</a:t>
            </a:r>
            <a:endParaRPr lang="en-US" sz="1200" dirty="0"/>
          </a:p>
        </p:txBody>
      </p:sp>
      <p:sp>
        <p:nvSpPr>
          <p:cNvPr id="11" name="Text 8"/>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4</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Grounding the CCP in Recent Literature</a:t>
            </a:r>
            <a:endParaRPr lang="en-US" sz="3000" dirty="0"/>
          </a:p>
        </p:txBody>
      </p:sp>
      <p:graphicFrame>
        <p:nvGraphicFramePr>
          <p:cNvPr id="5" name="Table 0"/>
          <p:cNvGraphicFramePr>
            <a:graphicFrameLocks noGrp="1"/>
          </p:cNvGraphicFramePr>
          <p:nvPr/>
        </p:nvGraphicFramePr>
        <p:xfrm>
          <a:off x="548640" y="1371600"/>
          <a:ext cx="11064240" cy="4297680"/>
        </p:xfrm>
        <a:graphic>
          <a:graphicData uri="http://schemas.openxmlformats.org/drawingml/2006/table">
            <a:tbl>
              <a:tblPr/>
              <a:tblGrid>
                <a:gridCol w="2286000"/>
                <a:gridCol w="3108960"/>
                <a:gridCol w="2651760"/>
                <a:gridCol w="3017520"/>
              </a:tblGrid>
              <a:tr h="716280">
                <a:tc>
                  <a:txBody>
                    <a:bodyPr/>
                    <a:lstStyle/>
                    <a:p>
                      <a:pPr marL="0" indent="0">
                        <a:buNone/>
                      </a:pPr>
                      <a:r>
                        <a:rPr lang="en-US" sz="1150" b="1" dirty="0">
                          <a:solidFill>
                            <a:srgbClr val="FFFFFF"/>
                          </a:solidFill>
                        </a:rPr>
                        <a:t>Paper</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rPr>
                        <a:t>Limitation Found</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rPr>
                        <a:t>Research Gap</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rPr>
                        <a:t>BloodGrid Response</a:t>
                      </a:r>
                      <a:endParaRPr lang="en-US" sz="11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1F2A44"/>
                    </a:solidFill>
                  </a:tcPr>
                </a:tc>
              </a:tr>
              <a:tr h="716280">
                <a:tc>
                  <a:txBody>
                    <a:bodyPr/>
                    <a:lstStyle/>
                    <a:p>
                      <a:pPr marL="0" indent="0">
                        <a:buNone/>
                      </a:pPr>
                      <a:r>
                        <a:rPr lang="en-US" sz="1050" b="1" dirty="0">
                          <a:solidFill>
                            <a:srgbClr val="7A1F3D"/>
                          </a:solidFill>
                        </a:rPr>
                        <a:t>Belfarsi et al. 2025</a:t>
                      </a:r>
                      <a:endParaRPr lang="en-US" sz="1050" dirty="0"/>
                    </a:p>
                    <a:p>
                      <a:pPr marL="0" indent="0">
                        <a:buNone/>
                      </a:pPr>
                      <a:r>
                        <a:rPr lang="en-US" sz="1050" b="1" dirty="0">
                          <a:solidFill>
                            <a:srgbClr val="7A1F3D"/>
                          </a:solidFill>
                        </a:rPr>
                        <a:t>(verified)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Heuristic matching + separate forecasting, never connected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Gap 1: no integrated pipeline</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Build &amp; evaluate the integration</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r>
              <a:tr h="716280">
                <a:tc>
                  <a:txBody>
                    <a:bodyPr/>
                    <a:lstStyle/>
                    <a:p>
                      <a:pPr marL="0" indent="0">
                        <a:buNone/>
                      </a:pPr>
                      <a:r>
                        <a:rPr lang="en-US" sz="1050" b="1" dirty="0">
                          <a:solidFill>
                            <a:srgbClr val="7A1F3D"/>
                          </a:solidFill>
                        </a:rPr>
                        <a:t>Yeh et al. 2026 / Wu et al. 2022</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Donor return modeled as binary yes/no</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Gap 2: no time-to-response modeling</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Investigate response modeling if data allows</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716280">
                <a:tc>
                  <a:txBody>
                    <a:bodyPr/>
                    <a:lstStyle/>
                    <a:p>
                      <a:pPr marL="0" indent="0">
                        <a:buNone/>
                      </a:pPr>
                      <a:r>
                        <a:rPr lang="en-US" sz="1050" b="1" dirty="0">
                          <a:solidFill>
                            <a:srgbClr val="7A1F3D"/>
                          </a:solidFill>
                        </a:rPr>
                        <a:t>Belfarsi et al. 2025 (same paper)</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Sequential greedy heuristics only</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Gap 3: no multi-objective optimization</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Compare NSGA-II / weighted scoring vs. greedy</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r>
              <a:tr h="716280">
                <a:tc>
                  <a:txBody>
                    <a:bodyPr/>
                    <a:lstStyle/>
                    <a:p>
                      <a:pPr marL="0" indent="0">
                        <a:buNone/>
                      </a:pPr>
                      <a:r>
                        <a:rPr lang="en-US" sz="1050" b="1" dirty="0">
                          <a:solidFill>
                            <a:srgbClr val="7A1F3D"/>
                          </a:solidFill>
                        </a:rPr>
                        <a:t>Badawi 2026 review</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No network/referral-based donor scoring found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Gap 4: absent, not stated-unsolved</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c>
                  <a:txBody>
                    <a:bodyPr/>
                    <a:lstStyle/>
                    <a:p>
                      <a:pPr marL="0" indent="0">
                        <a:buNone/>
                      </a:pPr>
                      <a:r>
                        <a:rPr lang="en-US" sz="1050" dirty="0">
                          <a:solidFill>
                            <a:srgbClr val="1F2A44"/>
                          </a:solidFill>
                        </a:rPr>
                        <a:t>Future work (GNN scoring)</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6EEF1"/>
                    </a:solidFill>
                  </a:tcPr>
                </a:tc>
              </a:tr>
              <a:tr h="716280">
                <a:tc>
                  <a:txBody>
                    <a:bodyPr/>
                    <a:lstStyle/>
                    <a:p>
                      <a:pPr marL="0" indent="0">
                        <a:buNone/>
                      </a:pPr>
                      <a:r>
                        <a:rPr lang="en-US" sz="1050" b="1" dirty="0">
                          <a:solidFill>
                            <a:srgbClr val="7A1F3D"/>
                          </a:solidFill>
                        </a:rPr>
                        <a:t>Van Denakker 2023 / Laermans 2022</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Real disaster-driven shortages; no surge-tested system</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Gap 5: no stress-testing</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c>
                  <a:txBody>
                    <a:bodyPr/>
                    <a:lstStyle/>
                    <a:p>
                      <a:pPr marL="0" indent="0">
                        <a:buNone/>
                      </a:pPr>
                      <a:r>
                        <a:rPr lang="en-US" sz="1050" dirty="0">
                          <a:solidFill>
                            <a:srgbClr val="1F2A44"/>
                          </a:solidFill>
                        </a:rPr>
                        <a:t>Future work (disaster simulation)</a:t>
                      </a:r>
                      <a:endParaRPr lang="en-US" sz="1050" dirty="0"/>
                    </a:p>
                  </a:txBody>
                  <a:tcPr anchor="ctr">
                    <a:lnL w="9525" cap="flat" cmpd="sng" algn="ctr">
                      <a:solidFill>
                        <a:srgbClr val="E3DADD"/>
                      </a:solidFill>
                      <a:prstDash val="solid"/>
                      <a:round/>
                      <a:headEnd type="none" w="med" len="med"/>
                      <a:tailEnd type="none" w="med" len="med"/>
                    </a:lnL>
                    <a:lnR w="9525" cap="flat" cmpd="sng" algn="ctr">
                      <a:solidFill>
                        <a:srgbClr val="E3DADD"/>
                      </a:solidFill>
                      <a:prstDash val="solid"/>
                      <a:round/>
                      <a:headEnd type="none" w="med" len="med"/>
                      <a:tailEnd type="none" w="med" len="med"/>
                    </a:lnR>
                    <a:lnT w="9525" cap="flat" cmpd="sng" algn="ctr">
                      <a:solidFill>
                        <a:srgbClr val="E3DADD"/>
                      </a:solidFill>
                      <a:prstDash val="solid"/>
                      <a:round/>
                      <a:headEnd type="none" w="med" len="med"/>
                      <a:tailEnd type="none" w="med" len="med"/>
                    </a:lnT>
                    <a:lnB w="9525" cap="flat" cmpd="sng" algn="ctr">
                      <a:solidFill>
                        <a:srgbClr val="E3DADD"/>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06440"/>
            <a:ext cx="11064240" cy="365760"/>
          </a:xfrm>
          <a:prstGeom prst="rect">
            <a:avLst/>
          </a:prstGeom>
          <a:noFill/>
        </p:spPr>
        <p:txBody>
          <a:bodyPr wrap="square" lIns="0" tIns="0" rIns="0" bIns="0" rtlCol="0" anchor="ctr"/>
          <a:lstStyle/>
          <a:p>
            <a:pPr marL="0" indent="0">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3 of 10 cited sources independently verified by direct fetch (Belfarsi et al. 2025 confirmed in full, including its own future-work statement).</a:t>
            </a:r>
            <a:endParaRPr lang="en-US" sz="1050" dirty="0"/>
          </a:p>
        </p:txBody>
      </p:sp>
      <p:sp>
        <p:nvSpPr>
          <p:cNvPr id="7" name="Text 4"/>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5</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The Complex Computing Problem</a:t>
            </a:r>
            <a:endParaRPr lang="en-US" sz="3000" dirty="0"/>
          </a:p>
        </p:txBody>
      </p:sp>
      <p:sp>
        <p:nvSpPr>
          <p:cNvPr id="5" name="Shape 3"/>
          <p:cNvSpPr/>
          <p:nvPr/>
        </p:nvSpPr>
        <p:spPr>
          <a:xfrm>
            <a:off x="548640" y="1371600"/>
            <a:ext cx="11064240" cy="868680"/>
          </a:xfrm>
          <a:prstGeom prst="roundRect">
            <a:avLst>
              <a:gd name="adj" fmla="val 8421"/>
            </a:avLst>
          </a:prstGeom>
          <a:solidFill>
            <a:srgbClr val="F6EEF1"/>
          </a:solidFill>
          <a:effectLst>
            <a:outerShdw blurRad="76200" dist="25400" dir="5400000" algn="bl" rotWithShape="0">
              <a:srgbClr val="3A2530">
                <a:alpha val="18000"/>
              </a:srgbClr>
            </a:outerShdw>
          </a:effectLst>
        </p:spPr>
      </p:sp>
      <p:sp>
        <p:nvSpPr>
          <p:cNvPr id="6" name="Text 4"/>
          <p:cNvSpPr txBox="1"/>
          <p:nvPr/>
        </p:nvSpPr>
        <p:spPr>
          <a:xfrm>
            <a:off x="822960" y="1371600"/>
            <a:ext cx="10515600" cy="868680"/>
          </a:xfrm>
          <a:prstGeom prst="rect">
            <a:avLst/>
          </a:prstGeom>
          <a:noFill/>
        </p:spPr>
        <p:txBody>
          <a:bodyPr wrap="square" lIns="0" tIns="0" rIns="0" bIns="0" rtlCol="0" anchor="ctr"/>
          <a:lstStyle/>
          <a:p>
            <a:pPr marL="0" indent="0" algn="ctr">
              <a:buNone/>
            </a:pPr>
            <a:r>
              <a:rPr lang="en-US" sz="1500" b="1" i="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Two separate computational problems, for two different user groups — integrated into one platform, not blended into one equation.</a:t>
            </a:r>
            <a:endParaRPr lang="en-US" sz="1500" dirty="0"/>
          </a:p>
        </p:txBody>
      </p:sp>
      <p:sp>
        <p:nvSpPr>
          <p:cNvPr id="7" name="Shape 5"/>
          <p:cNvSpPr/>
          <p:nvPr/>
        </p:nvSpPr>
        <p:spPr>
          <a:xfrm>
            <a:off x="548640" y="2286000"/>
            <a:ext cx="5349240" cy="3108960"/>
          </a:xfrm>
          <a:prstGeom prst="roundRect">
            <a:avLst>
              <a:gd name="adj" fmla="val 2807"/>
            </a:avLst>
          </a:prstGeom>
          <a:solidFill>
            <a:srgbClr val="F6EEF1"/>
          </a:solidFill>
          <a:effectLst>
            <a:outerShdw blurRad="76200" dist="25400" dir="5400000" algn="bl" rotWithShape="0">
              <a:srgbClr val="3A2530">
                <a:alpha val="18000"/>
              </a:srgbClr>
            </a:outerShdw>
          </a:effectLst>
        </p:spPr>
      </p:sp>
      <p:sp>
        <p:nvSpPr>
          <p:cNvPr id="8" name="Shape 6"/>
          <p:cNvSpPr/>
          <p:nvPr/>
        </p:nvSpPr>
        <p:spPr>
          <a:xfrm>
            <a:off x="2811780" y="2542032"/>
            <a:ext cx="822960" cy="822960"/>
          </a:xfrm>
          <a:prstGeom prst="ellipse">
            <a:avLst/>
          </a:prstGeom>
          <a:solidFill>
            <a:srgbClr val="7A1F3D"/>
          </a:solidFill>
        </p:spPr>
      </p:sp>
      <p:pic>
        <p:nvPicPr>
          <p:cNvPr id="9" name="Image 0" descr="C:\Users\abdta\AppData\Local\Temp\claude\C--Users-abdta-Desktop-FYP\b6a1f8e1-3045-43d7-9335-432e9d622fbb\scratchpad\pptx_build\icons\match.png"/>
          <p:cNvPicPr>
            <a:picLocks noChangeAspect="1"/>
          </p:cNvPicPr>
          <p:nvPr/>
        </p:nvPicPr>
        <p:blipFill>
          <a:blip r:embed="rId1"/>
          <a:stretch>
            <a:fillRect/>
          </a:stretch>
        </p:blipFill>
        <p:spPr>
          <a:xfrm>
            <a:off x="3008376" y="2743200"/>
            <a:ext cx="429768" cy="429768"/>
          </a:xfrm>
          <a:prstGeom prst="rect">
            <a:avLst/>
          </a:prstGeom>
        </p:spPr>
      </p:pic>
      <p:sp>
        <p:nvSpPr>
          <p:cNvPr id="10" name="Text 7"/>
          <p:cNvSpPr txBox="1"/>
          <p:nvPr/>
        </p:nvSpPr>
        <p:spPr>
          <a:xfrm>
            <a:off x="731520" y="3566160"/>
            <a:ext cx="4983480" cy="237744"/>
          </a:xfrm>
          <a:prstGeom prst="rect">
            <a:avLst/>
          </a:prstGeom>
          <a:noFill/>
        </p:spPr>
        <p:txBody>
          <a:bodyPr wrap="square" lIns="0" tIns="0" rIns="0" bIns="0" rtlCol="0" anchor="ctr"/>
          <a:lstStyle/>
          <a:p>
            <a:pPr marL="0" indent="0" algn="ctr">
              <a:buNone/>
            </a:pPr>
            <a:r>
              <a:rPr lang="en-US" sz="950" b="1" kern="0" spc="100"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INDIVIDUAL USERS  ·  BLOOD SEEKERS</a:t>
            </a:r>
            <a:endParaRPr lang="en-US" sz="950" dirty="0"/>
          </a:p>
        </p:txBody>
      </p:sp>
      <p:sp>
        <p:nvSpPr>
          <p:cNvPr id="11" name="Text 8"/>
          <p:cNvSpPr txBox="1"/>
          <p:nvPr/>
        </p:nvSpPr>
        <p:spPr>
          <a:xfrm>
            <a:off x="731520" y="3858768"/>
            <a:ext cx="4983480" cy="320040"/>
          </a:xfrm>
          <a:prstGeom prst="rect">
            <a:avLst/>
          </a:prstGeom>
          <a:noFill/>
        </p:spPr>
        <p:txBody>
          <a:bodyPr wrap="square" lIns="0" tIns="0" rIns="0" bIns="0" rtlCol="0" anchor="ctr"/>
          <a:lstStyle/>
          <a:p>
            <a:pPr marL="0" indent="0" algn="ctr">
              <a:buNone/>
            </a:pPr>
            <a:r>
              <a:rPr lang="en-US" sz="1300" b="1" dirty="0">
                <a:solidFill>
                  <a:srgbClr val="1F2A44"/>
                </a:solidFill>
                <a:latin typeface="Cambria" panose="02040503050406030204" pitchFamily="34" charset="0"/>
                <a:ea typeface="Cambria" panose="02040503050406030204" pitchFamily="34" charset="-122"/>
                <a:cs typeface="Cambria" panose="02040503050406030204" pitchFamily="34" charset="-120"/>
              </a:rPr>
              <a:t xml:space="preserve">CCP-1: Donor Matching Optimization (NSGA-II)</a:t>
            </a:r>
            <a:endParaRPr lang="en-US" sz="1300" dirty="0"/>
          </a:p>
        </p:txBody>
      </p:sp>
      <p:sp>
        <p:nvSpPr>
          <p:cNvPr id="12" name="Text 9"/>
          <p:cNvSpPr txBox="1"/>
          <p:nvPr/>
        </p:nvSpPr>
        <p:spPr>
          <a:xfrm>
            <a:off x="914400" y="4279392"/>
            <a:ext cx="4617720" cy="91440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Which donors should this seeker actually see? Blood-group match, proximity, availability and donor recovery pull against each other — one ranking cannot maximise them all.</a:t>
            </a:r>
            <a:endParaRPr lang="en-US" sz="1050" dirty="0"/>
          </a:p>
        </p:txBody>
      </p:sp>
      <p:sp>
        <p:nvSpPr>
          <p:cNvPr id="13" name="Shape 11"/>
          <p:cNvSpPr/>
          <p:nvPr/>
        </p:nvSpPr>
        <p:spPr>
          <a:xfrm>
            <a:off x="6263640" y="2286000"/>
            <a:ext cx="5349240" cy="3108960"/>
          </a:xfrm>
          <a:prstGeom prst="roundRect">
            <a:avLst>
              <a:gd name="adj" fmla="val 2807"/>
            </a:avLst>
          </a:prstGeom>
          <a:solidFill>
            <a:srgbClr val="F6EEF1"/>
          </a:solidFill>
          <a:effectLst>
            <a:outerShdw blurRad="76200" dist="25400" dir="5400000" algn="bl" rotWithShape="0">
              <a:srgbClr val="3A2530">
                <a:alpha val="18000"/>
              </a:srgbClr>
            </a:outerShdw>
          </a:effectLst>
        </p:spPr>
      </p:sp>
      <p:sp>
        <p:nvSpPr>
          <p:cNvPr id="14" name="Shape 12"/>
          <p:cNvSpPr/>
          <p:nvPr/>
        </p:nvSpPr>
        <p:spPr>
          <a:xfrm>
            <a:off x="8526780" y="2542032"/>
            <a:ext cx="822960" cy="822960"/>
          </a:xfrm>
          <a:prstGeom prst="ellipse">
            <a:avLst/>
          </a:prstGeom>
          <a:solidFill>
            <a:srgbClr val="1F2A44"/>
          </a:solidFill>
        </p:spPr>
      </p:sp>
      <p:pic>
        <p:nvPicPr>
          <p:cNvPr id="15" name="Image 1" descr="C:\Users\abdta\AppData\Local\Temp\claude\C--Users-abdta-Desktop-FYP\b6a1f8e1-3045-43d7-9335-432e9d622fbb\scratchpad\pptx_build\icons\chart.png"/>
          <p:cNvPicPr>
            <a:picLocks noChangeAspect="1"/>
          </p:cNvPicPr>
          <p:nvPr/>
        </p:nvPicPr>
        <p:blipFill>
          <a:blip r:embed="rId2"/>
          <a:stretch>
            <a:fillRect/>
          </a:stretch>
        </p:blipFill>
        <p:spPr>
          <a:xfrm>
            <a:off x="8723376" y="2743200"/>
            <a:ext cx="429768" cy="429768"/>
          </a:xfrm>
          <a:prstGeom prst="rect">
            <a:avLst/>
          </a:prstGeom>
        </p:spPr>
      </p:pic>
      <p:sp>
        <p:nvSpPr>
          <p:cNvPr id="16" name="Text 13"/>
          <p:cNvSpPr txBox="1"/>
          <p:nvPr/>
        </p:nvSpPr>
        <p:spPr>
          <a:xfrm>
            <a:off x="6446520" y="3566160"/>
            <a:ext cx="4983480" cy="237744"/>
          </a:xfrm>
          <a:prstGeom prst="rect">
            <a:avLst/>
          </a:prstGeom>
          <a:noFill/>
        </p:spPr>
        <p:txBody>
          <a:bodyPr wrap="square" lIns="0" tIns="0" rIns="0" bIns="0" rtlCol="0" anchor="ctr"/>
          <a:lstStyle/>
          <a:p>
            <a:pPr marL="0" indent="0" algn="ctr">
              <a:buNone/>
            </a:pPr>
            <a:r>
              <a:rPr lang="en-US" sz="950" b="1" kern="0" spc="1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BLOOD BANKS</a:t>
            </a:r>
            <a:endParaRPr lang="en-US" sz="950" dirty="0"/>
          </a:p>
        </p:txBody>
      </p:sp>
      <p:sp>
        <p:nvSpPr>
          <p:cNvPr id="17" name="Text 14"/>
          <p:cNvSpPr txBox="1"/>
          <p:nvPr/>
        </p:nvSpPr>
        <p:spPr>
          <a:xfrm>
            <a:off x="6446520" y="3858768"/>
            <a:ext cx="4983480" cy="320040"/>
          </a:xfrm>
          <a:prstGeom prst="rect">
            <a:avLst/>
          </a:prstGeom>
          <a:noFill/>
        </p:spPr>
        <p:txBody>
          <a:bodyPr wrap="square" lIns="0" tIns="0" rIns="0" bIns="0" rtlCol="0" anchor="ctr"/>
          <a:lstStyle/>
          <a:p>
            <a:pPr marL="0" indent="0" algn="ctr">
              <a:buNone/>
            </a:pPr>
            <a:r>
              <a:rPr lang="en-US" sz="1300" b="1" dirty="0">
                <a:solidFill>
                  <a:srgbClr val="1F2A44"/>
                </a:solidFill>
                <a:latin typeface="Cambria" panose="02040503050406030204" pitchFamily="34" charset="0"/>
                <a:ea typeface="Cambria" panose="02040503050406030204" pitchFamily="34" charset="-122"/>
                <a:cs typeface="Cambria" panose="02040503050406030204" pitchFamily="34" charset="-120"/>
              </a:rPr>
              <a:t xml:space="preserve">CCP-2: Demand Predictive Analysis</a:t>
            </a:r>
            <a:endParaRPr lang="en-US" sz="1300" dirty="0"/>
          </a:p>
        </p:txBody>
      </p:sp>
      <p:sp>
        <p:nvSpPr>
          <p:cNvPr id="18" name="Text 15"/>
          <p:cNvSpPr txBox="1"/>
          <p:nvPr/>
        </p:nvSpPr>
        <p:spPr>
          <a:xfrm>
            <a:off x="6629400" y="4279392"/>
            <a:ext cx="4617720" cy="91440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When is demand for a given blood group likely to spike? A model trained on blood-demand data lets a bank plan donor outreach and request stock from other banks before the shortage.</a:t>
            </a:r>
            <a:endParaRPr lang="en-US" sz="1050" dirty="0"/>
          </a:p>
        </p:txBody>
      </p:sp>
      <p:sp>
        <p:nvSpPr>
          <p:cNvPr id="19" name="Text 22"/>
          <p:cNvSpPr txBox="1"/>
          <p:nvPr/>
        </p:nvSpPr>
        <p:spPr>
          <a:xfrm>
            <a:off x="822960" y="5669280"/>
            <a:ext cx="10515600" cy="548640"/>
          </a:xfrm>
          <a:prstGeom prst="rect">
            <a:avLst/>
          </a:prstGeom>
          <a:noFill/>
        </p:spPr>
        <p:txBody>
          <a:bodyPr wrap="square" lIns="0" tIns="0" rIns="0" bIns="0" rtlCol="0" anchor="ctr"/>
          <a:lstStyle/>
          <a:p>
            <a:pPr marL="0" indent="0" algn="ctr">
              <a:buNone/>
            </a:pPr>
            <a:r>
              <a:rPr lang="en-US" sz="1200" i="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Why not a database query? A CRUD lookup can return the nearest compatible donor — it cannot resolve genuinely conflicting objectives, and it cannot anticipate demand that has not happened yet.</a:t>
            </a:r>
            <a:endParaRPr lang="en-US" sz="1200" dirty="0"/>
          </a:p>
        </p:txBody>
      </p:sp>
      <p:sp>
        <p:nvSpPr>
          <p:cNvPr id="20" name="Text 23"/>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6</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Proposed Solution &amp; Contribution</a:t>
            </a:r>
            <a:endParaRPr lang="en-US" sz="3000" dirty="0"/>
          </a:p>
        </p:txBody>
      </p:sp>
      <p:sp>
        <p:nvSpPr>
          <p:cNvPr id="5" name="Text 27"/>
          <p:cNvSpPr txBox="1"/>
          <p:nvPr/>
        </p:nvSpPr>
        <p:spPr>
          <a:xfrm>
            <a:off x="548640" y="3630168"/>
            <a:ext cx="11064240" cy="438912"/>
          </a:xfrm>
          <a:prstGeom prst="rect">
            <a:avLst/>
          </a:prstGeom>
          <a:noFill/>
        </p:spPr>
        <p:txBody>
          <a:bodyPr wrap="square" lIns="0" tIns="0" rIns="0" bIns="0" rtlCol="0" anchor="ctr"/>
          <a:lstStyle/>
          <a:p>
            <a:pPr marL="0" indent="0" algn="ctr">
              <a:buNone/>
            </a:pPr>
            <a:r>
              <a:rPr lang="en-US" sz="1200" i="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The forecasting engine sits behind the blood-bank portal only — individual seekers are served by NSGA-II matching. BloodGrid carries the communication between banks, not the physical transport.</a:t>
            </a:r>
            <a:endParaRPr lang="en-US" sz="1200" dirty="0"/>
          </a:p>
        </p:txBody>
      </p:sp>
      <p:sp>
        <p:nvSpPr>
          <p:cNvPr id="6" name="Shape 28"/>
          <p:cNvSpPr/>
          <p:nvPr/>
        </p:nvSpPr>
        <p:spPr>
          <a:xfrm>
            <a:off x="548640" y="4133088"/>
            <a:ext cx="11064240" cy="2194560"/>
          </a:xfrm>
          <a:prstGeom prst="roundRect">
            <a:avLst>
              <a:gd name="adj" fmla="val 3137"/>
            </a:avLst>
          </a:prstGeom>
          <a:solidFill>
            <a:srgbClr val="1F2A44"/>
          </a:solidFill>
          <a:effectLst>
            <a:outerShdw blurRad="76200" dist="25400" dir="5400000" algn="bl" rotWithShape="0">
              <a:srgbClr val="3A2530">
                <a:alpha val="18000"/>
              </a:srgbClr>
            </a:outerShdw>
          </a:effectLst>
        </p:spPr>
      </p:sp>
      <p:sp>
        <p:nvSpPr>
          <p:cNvPr id="7" name="Text 29"/>
          <p:cNvSpPr txBox="1"/>
          <p:nvPr/>
        </p:nvSpPr>
        <p:spPr>
          <a:xfrm>
            <a:off x="868680" y="4297680"/>
            <a:ext cx="10424160" cy="1938528"/>
          </a:xfrm>
          <a:prstGeom prst="rect">
            <a:avLst/>
          </a:prstGeom>
          <a:noFill/>
        </p:spPr>
        <p:txBody>
          <a:bodyPr wrap="square" lIns="0" tIns="0" rIns="0" bIns="0" rtlCol="0" anchor="t"/>
          <a:lstStyle/>
          <a:p>
            <a:pPr marL="0" indent="0">
              <a:lnSpc>
                <a:spcPct val="115000"/>
              </a:lnSpc>
              <a:buNone/>
            </a:pPr>
            <a:r>
              <a:rPr lang="en-US" b="1" dirty="0" sz="1400">
                <a:solidFill>
                  <a:srgbClr val="C9A227"/>
                </a:solidFill>
                <a:latin typeface="Calibri" panose="020F0502020204030204" pitchFamily="34" charset="0"/>
                <a:ea typeface="Calibri" panose="020F0502020204030204" pitchFamily="34" charset="-122"/>
                <a:cs typeface="Calibri" panose="020F0502020204030204" pitchFamily="34" charset="-120"/>
              </a:rPr>
              <a:t xml:space="preserve">Technical Contribution
</a:t>
            </a:r>
            <a:r>
              <a:rPr lang="en-US" dirty="0" i="1" sz="125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One platform, two user groups, two computational engines: NSGA-II multi-objective donor matching with map visualisation for individual seekers, and a demand-forecasting model trained on blood-demand data for blood banks.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NSGA-II matching, decided and justified against Belfarsi et al.'s sequential greedy heuristic (Gap 3)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A model trained on blood-demand data gives banks a forward shortage signal instead of an after-the-fact reaction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Scope boundary: BloodGrid is the coordination and communication layer — it does not plan or execute physical blood transport
</a:t>
            </a:r>
            <a:r>
              <a:rPr lang="en-US" dirty="0" sz="1100">
                <a:solidFill>
                  <a:srgbClr val="E7E9EE"/>
                </a:solidFill>
                <a:latin typeface="Calibri" panose="020F0502020204030204" pitchFamily="34" charset="0"/>
                <a:ea typeface="Calibri" panose="020F0502020204030204" pitchFamily="34" charset="-122"/>
                <a:cs typeface="Calibri" panose="020F0502020204030204" pitchFamily="34" charset="-120"/>
              </a:rPr>
              <a:t xml:space="preserve">• Systematic, honest evaluation on synthetic data, with evidence status labelled throughout</a:t>
            </a:r>
            <a:endParaRPr lang="en-US" sz="1500" dirty="0"/>
          </a:p>
        </p:txBody>
      </p:sp>
      <p:sp>
        <p:nvSpPr>
          <p:cNvPr id="8" name="Text 30"/>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06 / 10</a:t>
            </a:r>
            <a:endParaRPr lang="en-US" sz="1000" dirty="0"/>
          </a:p>
        </p:txBody>
      </p:sp>
      <p:sp>
        <p:nvSpPr>
          <p:cNvPr id="9" name="LaneA Label"/>
          <p:cNvSpPr txBox="1"/>
          <p:nvPr/>
        </p:nvSpPr>
        <p:spPr>
          <a:xfrm>
            <a:off x="548640" y="1188720"/>
            <a:ext cx="73152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FOR INDIVIDUAL USERS  ·  SEEKER &amp; DONOR APP</a:t>
            </a:r>
            <a:endParaRPr lang="en-US" sz="1100" dirty="0"/>
          </a:p>
        </p:txBody>
      </p:sp>
      <p:sp>
        <p:nvSpPr>
          <p:cNvPr id="10" name="LaneA Box 0"/>
          <p:cNvSpPr/>
          <p:nvPr/>
        </p:nvSpPr>
        <p:spPr>
          <a:xfrm>
            <a:off x="548640" y="1426464"/>
            <a:ext cx="2388870" cy="868680"/>
          </a:xfrm>
          <a:prstGeom prst="roundRect">
            <a:avLst>
              <a:gd name="adj" fmla="val 6957"/>
            </a:avLst>
          </a:prstGeom>
          <a:solidFill>
            <a:srgbClr val="7A1F3D"/>
          </a:solidFill>
        </p:spPr>
      </p:sp>
      <p:sp>
        <p:nvSpPr>
          <p:cNvPr id="11" name="LaneA BoxText 0"/>
          <p:cNvSpPr txBox="1"/>
          <p:nvPr/>
        </p:nvSpPr>
        <p:spPr>
          <a:xfrm>
            <a:off x="64008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Seeker posts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blood request</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LaneA Arrow 0"/>
          <p:cNvSpPr txBox="1"/>
          <p:nvPr/>
        </p:nvSpPr>
        <p:spPr>
          <a:xfrm>
            <a:off x="3006090" y="163220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3" name="LaneA Box 1"/>
          <p:cNvSpPr/>
          <p:nvPr/>
        </p:nvSpPr>
        <p:spPr>
          <a:xfrm>
            <a:off x="3440430" y="1426464"/>
            <a:ext cx="2388870" cy="868680"/>
          </a:xfrm>
          <a:prstGeom prst="roundRect">
            <a:avLst>
              <a:gd name="adj" fmla="val 6957"/>
            </a:avLst>
          </a:prstGeom>
          <a:solidFill>
            <a:srgbClr val="1F2A44"/>
          </a:solidFill>
        </p:spPr>
      </p:sp>
      <p:sp>
        <p:nvSpPr>
          <p:cNvPr id="14" name="LaneA BoxText 1"/>
          <p:cNvSpPr txBox="1"/>
          <p:nvPr/>
        </p:nvSpPr>
        <p:spPr>
          <a:xfrm>
            <a:off x="353187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Backend API +</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donor records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LaneA Arrow 1"/>
          <p:cNvSpPr txBox="1"/>
          <p:nvPr/>
        </p:nvSpPr>
        <p:spPr>
          <a:xfrm>
            <a:off x="5897880" y="163220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6" name="LaneA Box 2"/>
          <p:cNvSpPr/>
          <p:nvPr/>
        </p:nvSpPr>
        <p:spPr>
          <a:xfrm>
            <a:off x="6332220" y="1426464"/>
            <a:ext cx="2388870" cy="868680"/>
          </a:xfrm>
          <a:prstGeom prst="roundRect">
            <a:avLst>
              <a:gd name="adj" fmla="val 6957"/>
            </a:avLst>
          </a:prstGeom>
          <a:solidFill>
            <a:srgbClr val="7A1F3D"/>
          </a:solidFill>
        </p:spPr>
      </p:sp>
      <p:sp>
        <p:nvSpPr>
          <p:cNvPr id="17" name="LaneA BoxText 2"/>
          <p:cNvSpPr txBox="1"/>
          <p:nvPr/>
        </p:nvSpPr>
        <p:spPr>
          <a:xfrm>
            <a:off x="642366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NSGA-II matching</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engine (CCP-1)</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8" name="LaneA Arrow 2"/>
          <p:cNvSpPr txBox="1"/>
          <p:nvPr/>
        </p:nvSpPr>
        <p:spPr>
          <a:xfrm>
            <a:off x="8789670" y="163220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9" name="LaneA Box 3"/>
          <p:cNvSpPr/>
          <p:nvPr/>
        </p:nvSpPr>
        <p:spPr>
          <a:xfrm>
            <a:off x="9224010" y="1426464"/>
            <a:ext cx="2388870" cy="868680"/>
          </a:xfrm>
          <a:prstGeom prst="roundRect">
            <a:avLst>
              <a:gd name="adj" fmla="val 6957"/>
            </a:avLst>
          </a:prstGeom>
          <a:solidFill>
            <a:srgbClr val="1F2A44"/>
          </a:solidFill>
        </p:spPr>
      </p:sp>
      <p:sp>
        <p:nvSpPr>
          <p:cNvPr id="20" name="LaneA BoxText 3"/>
          <p:cNvSpPr txBox="1"/>
          <p:nvPr/>
        </p:nvSpPr>
        <p:spPr>
          <a:xfrm>
            <a:off x="9315450" y="1426464"/>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Ranked donor list</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 map view</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LaneB Label"/>
          <p:cNvSpPr txBox="1"/>
          <p:nvPr/>
        </p:nvSpPr>
        <p:spPr>
          <a:xfrm>
            <a:off x="548640" y="2432304"/>
            <a:ext cx="73152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FOR BLOOD BANKS  ·  ADMIN PORTAL</a:t>
            </a:r>
            <a:endParaRPr lang="en-US" sz="1100" dirty="0"/>
          </a:p>
        </p:txBody>
      </p:sp>
      <p:sp>
        <p:nvSpPr>
          <p:cNvPr id="22" name="LaneB Box 0"/>
          <p:cNvSpPr/>
          <p:nvPr/>
        </p:nvSpPr>
        <p:spPr>
          <a:xfrm>
            <a:off x="548640" y="2670048"/>
            <a:ext cx="2388870" cy="868680"/>
          </a:xfrm>
          <a:prstGeom prst="roundRect">
            <a:avLst>
              <a:gd name="adj" fmla="val 6957"/>
            </a:avLst>
          </a:prstGeom>
          <a:solidFill>
            <a:srgbClr val="1F2A44"/>
          </a:solidFill>
        </p:spPr>
      </p:sp>
      <p:sp>
        <p:nvSpPr>
          <p:cNvPr id="23" name="LaneB BoxText 0"/>
          <p:cNvSpPr txBox="1"/>
          <p:nvPr/>
        </p:nvSpPr>
        <p:spPr>
          <a:xfrm>
            <a:off x="64008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Historical</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blood-demand data</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LaneB Arrow 0"/>
          <p:cNvSpPr txBox="1"/>
          <p:nvPr/>
        </p:nvSpPr>
        <p:spPr>
          <a:xfrm>
            <a:off x="3006090" y="2875788"/>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5" name="LaneB Box 1"/>
          <p:cNvSpPr/>
          <p:nvPr/>
        </p:nvSpPr>
        <p:spPr>
          <a:xfrm>
            <a:off x="3440430" y="2670048"/>
            <a:ext cx="2388870" cy="868680"/>
          </a:xfrm>
          <a:prstGeom prst="roundRect">
            <a:avLst>
              <a:gd name="adj" fmla="val 6957"/>
            </a:avLst>
          </a:prstGeom>
          <a:solidFill>
            <a:srgbClr val="7A1F3D"/>
          </a:solidFill>
        </p:spPr>
      </p:sp>
      <p:sp>
        <p:nvSpPr>
          <p:cNvPr id="26" name="LaneB BoxText 1"/>
          <p:cNvSpPr txBox="1"/>
          <p:nvPr/>
        </p:nvSpPr>
        <p:spPr>
          <a:xfrm>
            <a:off x="353187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Trained forecasting</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model (CCP-2)</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LaneB Arrow 1"/>
          <p:cNvSpPr txBox="1"/>
          <p:nvPr/>
        </p:nvSpPr>
        <p:spPr>
          <a:xfrm>
            <a:off x="5897880" y="2875788"/>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8" name="LaneB Box 2"/>
          <p:cNvSpPr/>
          <p:nvPr/>
        </p:nvSpPr>
        <p:spPr>
          <a:xfrm>
            <a:off x="6332220" y="2670048"/>
            <a:ext cx="2388870" cy="868680"/>
          </a:xfrm>
          <a:prstGeom prst="roundRect">
            <a:avLst>
              <a:gd name="adj" fmla="val 6957"/>
            </a:avLst>
          </a:prstGeom>
          <a:solidFill>
            <a:srgbClr val="1F2A44"/>
          </a:solidFill>
        </p:spPr>
      </p:sp>
      <p:sp>
        <p:nvSpPr>
          <p:cNvPr id="29" name="LaneB BoxText 2"/>
          <p:cNvSpPr txBox="1"/>
          <p:nvPr/>
        </p:nvSpPr>
        <p:spPr>
          <a:xfrm>
            <a:off x="642366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Predicted spike /</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shortage risk</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LaneB Arrow 2"/>
          <p:cNvSpPr txBox="1"/>
          <p:nvPr/>
        </p:nvSpPr>
        <p:spPr>
          <a:xfrm>
            <a:off x="8789670" y="2875788"/>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31" name="LaneB Box 3"/>
          <p:cNvSpPr/>
          <p:nvPr/>
        </p:nvSpPr>
        <p:spPr>
          <a:xfrm>
            <a:off x="9224010" y="2670048"/>
            <a:ext cx="2388870" cy="868680"/>
          </a:xfrm>
          <a:prstGeom prst="roundRect">
            <a:avLst>
              <a:gd name="adj" fmla="val 6957"/>
            </a:avLst>
          </a:prstGeom>
          <a:solidFill>
            <a:srgbClr val="7A1F3D"/>
          </a:solidFill>
        </p:spPr>
      </p:sp>
      <p:sp>
        <p:nvSpPr>
          <p:cNvPr id="32" name="LaneB BoxText 3"/>
          <p:cNvSpPr txBox="1"/>
          <p:nvPr/>
        </p:nvSpPr>
        <p:spPr>
          <a:xfrm>
            <a:off x="9315450" y="2670048"/>
            <a:ext cx="2205990" cy="86868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Plan donor outreach +</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request stock from</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other banks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7</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POC-Lite / Feasibility Evidence</a:t>
            </a:r>
            <a:endParaRPr lang="en-US" sz="3000" dirty="0"/>
          </a:p>
        </p:txBody>
      </p:sp>
      <p:sp>
        <p:nvSpPr>
          <p:cNvPr id="5" name="Text 5"/>
          <p:cNvSpPr txBox="1"/>
          <p:nvPr/>
        </p:nvSpPr>
        <p:spPr>
          <a:xfrm>
            <a:off x="548640" y="1097280"/>
            <a:ext cx="11064240" cy="256032"/>
          </a:xfrm>
          <a:prstGeom prst="rect">
            <a:avLst/>
          </a:prstGeom>
          <a:noFill/>
        </p:spPr>
        <p:txBody>
          <a:bodyPr wrap="square" lIns="0" tIns="0" rIns="0" bIns="0" rtlCol="0" anchor="ctr"/>
          <a:lstStyle/>
          <a:p>
            <a:pPr marL="0" indent="0">
              <a:buNone/>
            </a:pPr>
            <a:r>
              <a:rPr lang="en-US" sz="9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ONE POC, two flows — one per computational problem, each measured against its own baseline.</a:t>
            </a:r>
            <a:endParaRPr lang="en-US" sz="950" dirty="0"/>
          </a:p>
        </p:txBody>
      </p:sp>
      <p:sp>
        <p:nvSpPr>
          <p:cNvPr id="6" name="Shape 6"/>
          <p:cNvSpPr/>
          <p:nvPr/>
        </p:nvSpPr>
        <p:spPr>
          <a:xfrm>
            <a:off x="548640" y="3200400"/>
            <a:ext cx="2011680" cy="1051560"/>
          </a:xfrm>
          <a:prstGeom prst="roundRect">
            <a:avLst>
              <a:gd name="adj" fmla="val 6957"/>
            </a:avLst>
          </a:prstGeom>
          <a:solidFill>
            <a:srgbClr val="7A1F3D"/>
          </a:solidFill>
        </p:spPr>
      </p:sp>
      <p:sp>
        <p:nvSpPr>
          <p:cNvPr id="7" name="Text 7"/>
          <p:cNvSpPr txBox="1"/>
          <p:nvPr/>
        </p:nvSpPr>
        <p:spPr>
          <a:xfrm>
            <a:off x="64008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Demand data</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(synthetic or real world)</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8"/>
          <p:cNvSpPr txBox="1"/>
          <p:nvPr/>
        </p:nvSpPr>
        <p:spPr>
          <a:xfrm>
            <a:off x="249174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9" name="Shape 9"/>
          <p:cNvSpPr/>
          <p:nvPr/>
        </p:nvSpPr>
        <p:spPr>
          <a:xfrm>
            <a:off x="2788920" y="3200400"/>
            <a:ext cx="2011680" cy="1051560"/>
          </a:xfrm>
          <a:prstGeom prst="roundRect">
            <a:avLst>
              <a:gd name="adj" fmla="val 6957"/>
            </a:avLst>
          </a:prstGeom>
          <a:solidFill>
            <a:srgbClr val="1F2A44"/>
          </a:solidFill>
        </p:spPr>
      </p:sp>
      <p:sp>
        <p:nvSpPr>
          <p:cNvPr id="10" name="Text 10"/>
          <p:cNvSpPr txBox="1"/>
          <p:nvPr/>
        </p:nvSpPr>
        <p:spPr>
          <a:xfrm>
            <a:off x="288036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Trained forecast</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model</a:t>
            </a:r>
            <a:endParaRPr lang="en-US" sz="1150" dirty="0"/>
          </a:p>
        </p:txBody>
      </p:sp>
      <p:sp>
        <p:nvSpPr>
          <p:cNvPr id="11" name="Text 11"/>
          <p:cNvSpPr txBox="1"/>
          <p:nvPr/>
        </p:nvSpPr>
        <p:spPr>
          <a:xfrm>
            <a:off x="473202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2" name="Shape 12"/>
          <p:cNvSpPr/>
          <p:nvPr/>
        </p:nvSpPr>
        <p:spPr>
          <a:xfrm>
            <a:off x="5029200" y="3200400"/>
            <a:ext cx="2011680" cy="1051560"/>
          </a:xfrm>
          <a:prstGeom prst="roundRect">
            <a:avLst>
              <a:gd name="adj" fmla="val 6957"/>
            </a:avLst>
          </a:prstGeom>
          <a:solidFill>
            <a:srgbClr val="7A1F3D"/>
          </a:solidFill>
        </p:spPr>
      </p:sp>
      <p:sp>
        <p:nvSpPr>
          <p:cNvPr id="13" name="Text 13"/>
          <p:cNvSpPr txBox="1"/>
          <p:nvPr/>
        </p:nvSpPr>
        <p:spPr>
          <a:xfrm>
            <a:off x="512064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Predicted spike /</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shortage risk</a:t>
            </a:r>
            <a:endParaRPr lang="en-US" sz="1150" dirty="0"/>
          </a:p>
        </p:txBody>
      </p:sp>
      <p:sp>
        <p:nvSpPr>
          <p:cNvPr id="14" name="Text 14"/>
          <p:cNvSpPr txBox="1"/>
          <p:nvPr/>
        </p:nvSpPr>
        <p:spPr>
          <a:xfrm>
            <a:off x="697230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5" name="Shape 15"/>
          <p:cNvSpPr/>
          <p:nvPr/>
        </p:nvSpPr>
        <p:spPr>
          <a:xfrm>
            <a:off x="7269480" y="3200400"/>
            <a:ext cx="2011680" cy="1051560"/>
          </a:xfrm>
          <a:prstGeom prst="roundRect">
            <a:avLst>
              <a:gd name="adj" fmla="val 6957"/>
            </a:avLst>
          </a:prstGeom>
          <a:solidFill>
            <a:srgbClr val="1F2A44"/>
          </a:solidFill>
        </p:spPr>
      </p:sp>
      <p:sp>
        <p:nvSpPr>
          <p:cNvPr id="16" name="Text 16"/>
          <p:cNvSpPr txBox="1"/>
          <p:nvPr/>
        </p:nvSpPr>
        <p:spPr>
          <a:xfrm>
            <a:off x="736092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Bank outreach +</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inter-bank request</a:t>
            </a:r>
            <a:endParaRPr lang="en-US" sz="1150" dirty="0"/>
          </a:p>
        </p:txBody>
      </p:sp>
      <p:sp>
        <p:nvSpPr>
          <p:cNvPr id="17" name="Text 17"/>
          <p:cNvSpPr txBox="1"/>
          <p:nvPr/>
        </p:nvSpPr>
        <p:spPr>
          <a:xfrm>
            <a:off x="9212580" y="3497580"/>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8" name="Shape 18"/>
          <p:cNvSpPr/>
          <p:nvPr/>
        </p:nvSpPr>
        <p:spPr>
          <a:xfrm>
            <a:off x="9509760" y="3200400"/>
            <a:ext cx="2011680" cy="1051560"/>
          </a:xfrm>
          <a:prstGeom prst="roundRect">
            <a:avLst>
              <a:gd name="adj" fmla="val 6957"/>
            </a:avLst>
          </a:prstGeom>
          <a:solidFill>
            <a:srgbClr val="7A1F3D"/>
          </a:solidFill>
        </p:spPr>
      </p:sp>
      <p:sp>
        <p:nvSpPr>
          <p:cNvPr id="19" name="Text 19"/>
          <p:cNvSpPr txBox="1"/>
          <p:nvPr/>
        </p:nvSpPr>
        <p:spPr>
          <a:xfrm>
            <a:off x="9601200" y="3200400"/>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Compare vs.</a:t>
            </a:r>
            <a:endParaRPr lang="en-US" sz="1150" dirty="0"/>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naive baseline</a:t>
            </a:r>
            <a:endParaRPr lang="en-US" sz="1150" dirty="0"/>
          </a:p>
        </p:txBody>
      </p:sp>
      <p:sp>
        <p:nvSpPr>
          <p:cNvPr id="20" name="Text 29"/>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07 / 10</a:t>
            </a:r>
            <a:endParaRPr lang="en-US" sz="1000" dirty="0"/>
          </a:p>
        </p:txBody>
      </p:sp>
      <p:sp>
        <p:nvSpPr>
          <p:cNvPr id="21" name="FlowA Label"/>
          <p:cNvSpPr txBox="1"/>
          <p:nvPr/>
        </p:nvSpPr>
        <p:spPr>
          <a:xfrm>
            <a:off x="548640" y="1444752"/>
            <a:ext cx="82296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A  ·  DONOR MATCHING FOR AN INDIVIDUAL SEEKER  (CCP-1)</a:t>
            </a:r>
            <a:endParaRPr lang="en-US" sz="1100" dirty="0"/>
          </a:p>
        </p:txBody>
      </p:sp>
      <p:sp>
        <p:nvSpPr>
          <p:cNvPr id="22" name="FlowA Box 0"/>
          <p:cNvSpPr/>
          <p:nvPr/>
        </p:nvSpPr>
        <p:spPr>
          <a:xfrm>
            <a:off x="548640" y="1700784"/>
            <a:ext cx="2011680" cy="1051560"/>
          </a:xfrm>
          <a:prstGeom prst="roundRect">
            <a:avLst>
              <a:gd name="adj" fmla="val 6957"/>
            </a:avLst>
          </a:prstGeom>
          <a:solidFill>
            <a:srgbClr val="7A1F3D"/>
          </a:solidFill>
        </p:spPr>
      </p:sp>
      <p:sp>
        <p:nvSpPr>
          <p:cNvPr id="23" name="FlowA BoxText 0"/>
          <p:cNvSpPr txBox="1"/>
          <p:nvPr/>
        </p:nvSpPr>
        <p:spPr>
          <a:xfrm>
            <a:off x="64008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Blood request</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(group, urgency,</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location)</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FlowA Arrow 0"/>
          <p:cNvSpPr txBox="1"/>
          <p:nvPr/>
        </p:nvSpPr>
        <p:spPr>
          <a:xfrm>
            <a:off x="249174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5" name="FlowA Box 1"/>
          <p:cNvSpPr/>
          <p:nvPr/>
        </p:nvSpPr>
        <p:spPr>
          <a:xfrm>
            <a:off x="2788920" y="1700784"/>
            <a:ext cx="2011680" cy="1051560"/>
          </a:xfrm>
          <a:prstGeom prst="roundRect">
            <a:avLst>
              <a:gd name="adj" fmla="val 6957"/>
            </a:avLst>
          </a:prstGeom>
          <a:solidFill>
            <a:srgbClr val="1F2A44"/>
          </a:solidFill>
        </p:spPr>
      </p:sp>
      <p:sp>
        <p:nvSpPr>
          <p:cNvPr id="26" name="FlowA BoxText 1"/>
          <p:cNvSpPr txBox="1"/>
          <p:nvPr/>
        </p:nvSpPr>
        <p:spPr>
          <a:xfrm>
            <a:off x="288036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Candidate</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donor pool</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FlowA Arrow 1"/>
          <p:cNvSpPr txBox="1"/>
          <p:nvPr/>
        </p:nvSpPr>
        <p:spPr>
          <a:xfrm>
            <a:off x="473202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8" name="FlowA Box 2"/>
          <p:cNvSpPr/>
          <p:nvPr/>
        </p:nvSpPr>
        <p:spPr>
          <a:xfrm>
            <a:off x="5029200" y="1700784"/>
            <a:ext cx="2011680" cy="1051560"/>
          </a:xfrm>
          <a:prstGeom prst="roundRect">
            <a:avLst>
              <a:gd name="adj" fmla="val 6957"/>
            </a:avLst>
          </a:prstGeom>
          <a:solidFill>
            <a:srgbClr val="7A1F3D"/>
          </a:solidFill>
        </p:spPr>
      </p:sp>
      <p:sp>
        <p:nvSpPr>
          <p:cNvPr id="29" name="FlowA BoxText 2"/>
          <p:cNvSpPr txBox="1"/>
          <p:nvPr/>
        </p:nvSpPr>
        <p:spPr>
          <a:xfrm>
            <a:off x="512064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NSGA-II</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optimisation</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0" name="FlowA Arrow 2"/>
          <p:cNvSpPr txBox="1"/>
          <p:nvPr/>
        </p:nvSpPr>
        <p:spPr>
          <a:xfrm>
            <a:off x="697230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31" name="FlowA Box 3"/>
          <p:cNvSpPr/>
          <p:nvPr/>
        </p:nvSpPr>
        <p:spPr>
          <a:xfrm>
            <a:off x="7269480" y="1700784"/>
            <a:ext cx="2011680" cy="1051560"/>
          </a:xfrm>
          <a:prstGeom prst="roundRect">
            <a:avLst>
              <a:gd name="adj" fmla="val 6957"/>
            </a:avLst>
          </a:prstGeom>
          <a:solidFill>
            <a:srgbClr val="1F2A44"/>
          </a:solidFill>
        </p:spPr>
      </p:sp>
      <p:sp>
        <p:nvSpPr>
          <p:cNvPr id="32" name="FlowA BoxText 3"/>
          <p:cNvSpPr txBox="1"/>
          <p:nvPr/>
        </p:nvSpPr>
        <p:spPr>
          <a:xfrm>
            <a:off x="736092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Ranked donors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 map</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FlowA Arrow 3"/>
          <p:cNvSpPr txBox="1"/>
          <p:nvPr/>
        </p:nvSpPr>
        <p:spPr>
          <a:xfrm>
            <a:off x="9212580" y="1997964"/>
            <a:ext cx="365760" cy="457200"/>
          </a:xfrm>
          <a:prstGeom prst="rect">
            <a:avLst/>
          </a:prstGeom>
          <a:noFill/>
        </p:spPr>
        <p:txBody>
          <a:bodyPr wrap="square" lIns="0" tIns="0" rIns="0" bIns="0" rtlCol="0" anchor="ctr"/>
          <a:lstStyle/>
          <a:p>
            <a:pPr marL="0" indent="0" algn="ctr">
              <a:buNone/>
            </a:pPr>
            <a:r>
              <a:rPr lang="en-US" sz="200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34" name="FlowA Box 4"/>
          <p:cNvSpPr/>
          <p:nvPr/>
        </p:nvSpPr>
        <p:spPr>
          <a:xfrm>
            <a:off x="9509760" y="1700784"/>
            <a:ext cx="2011680" cy="1051560"/>
          </a:xfrm>
          <a:prstGeom prst="roundRect">
            <a:avLst>
              <a:gd name="adj" fmla="val 6957"/>
            </a:avLst>
          </a:prstGeom>
          <a:solidFill>
            <a:srgbClr val="7A1F3D"/>
          </a:solidFill>
        </p:spPr>
      </p:sp>
      <p:sp>
        <p:nvSpPr>
          <p:cNvPr id="35" name="FlowA BoxText 4"/>
          <p:cNvSpPr txBox="1"/>
          <p:nvPr/>
        </p:nvSpPr>
        <p:spPr>
          <a:xfrm>
            <a:off x="9601200" y="1700784"/>
            <a:ext cx="1828800" cy="1051560"/>
          </a:xfrm>
          <a:prstGeom prst="rect">
            <a:avLst/>
          </a:prstGeom>
          <a:noFill/>
        </p:spPr>
        <p:txBody>
          <a:bodyPr wrap="square" lIns="0" tIns="0" rIns="0" bIns="0" rtlCol="0" anchor="ctr"/>
          <a:lstStyle/>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Compare vs.</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gn="ctr">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 xml:space="preserve">simple heuristic</a:t>
            </a:r>
            <a:endPar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36" name="FlowB Label"/>
          <p:cNvSpPr txBox="1"/>
          <p:nvPr/>
        </p:nvSpPr>
        <p:spPr>
          <a:xfrm>
            <a:off x="548640" y="2944368"/>
            <a:ext cx="8229600" cy="219456"/>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FLOW B  ·  DEMAND FORECASTING FOR A BLOOD BANK  (CCP-2)</a:t>
            </a:r>
            <a:endParaRPr lang="en-US" sz="1100" dirty="0"/>
          </a:p>
        </p:txBody>
      </p:sp>
      <p:sp>
        <p:nvSpPr>
          <p:cNvPr id="37" name="POC Panel"/>
          <p:cNvSpPr/>
          <p:nvPr/>
        </p:nvSpPr>
        <p:spPr>
          <a:xfrm>
            <a:off x="548640" y="4572000"/>
            <a:ext cx="11064240" cy="1234440"/>
          </a:xfrm>
          <a:prstGeom prst="roundRect">
            <a:avLst>
              <a:gd name="adj" fmla="val 1633"/>
            </a:avLst>
          </a:prstGeom>
          <a:solidFill>
            <a:srgbClr val="F6EEF1"/>
          </a:solidFill>
          <a:effectLst>
            <a:outerShdw blurRad="76200" dist="25400" dir="5400000" algn="bl" rotWithShape="0">
              <a:srgbClr val="3A2530">
                <a:alpha val="18000"/>
              </a:srgbClr>
            </a:outerShdw>
          </a:effectLst>
        </p:spPr>
      </p:sp>
      <p:sp>
        <p:nvSpPr>
          <p:cNvPr id="38" name="POC Panel Text"/>
          <p:cNvSpPr txBox="1"/>
          <p:nvPr/>
        </p:nvSpPr>
        <p:spPr>
          <a:xfrm>
            <a:off x="868680" y="4718304"/>
            <a:ext cx="10424160" cy="1005840"/>
          </a:xfrm>
          <a:prstGeom prst="rect">
            <a:avLst/>
          </a:prstGeom>
          <a:noFill/>
        </p:spPr>
        <p:txBody>
          <a:bodyPr wrap="square" lIns="0" tIns="0" rIns="0" bIns="0" rtlCol="0" anchor="t"/>
          <a:lstStyle/>
          <a:p>
            <a:pPr marL="0" indent="0">
              <a:lnSpc>
                <a:spcPct val="120000"/>
              </a:lnSpc>
              <a:buNone/>
            </a:pP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What each flow demonstrates
</a:t>
            </a: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Flow A —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NSGA-II against a simple heuristic scored on the same features (blood-group match, distance, availability, donation recency), so any difference comes from the optimisation and not from extra information.
</a:t>
            </a:r>
            <a:r>
              <a:rPr lang="en-US" sz="1200"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Flow B —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a model trained on blood-demand data flags a coming spike early enough for a bank to act on it, measured against a naive baseline.</a:t>
            </a:r>
            <a:endParaRPr lang="en-US" sz="1200" dirty="0"/>
          </a:p>
        </p:txBody>
      </p:sp>
      <p:sp>
        <p:nvSpPr>
          <p:cNvPr id="39" name="POC Status Note"/>
          <p:cNvSpPr txBox="1"/>
          <p:nvPr/>
        </p:nvSpPr>
        <p:spPr>
          <a:xfrm>
            <a:off x="548640" y="6108192"/>
            <a:ext cx="10058400" cy="256032"/>
          </a:xfrm>
          <a:prstGeom prst="rect">
            <a:avLst/>
          </a:prstGeom>
          <a:noFill/>
        </p:spPr>
        <p:txBody>
          <a:bodyPr wrap="square" lIns="0" tIns="0" rIns="0" bIns="0" rtlCol="0" anchor="ctr"/>
          <a:lstStyle/>
          <a:p>
            <a:pPr marL="0" indent="0">
              <a:buNone/>
            </a:pPr>
            <a:r>
              <a:rPr lang="en-US" sz="10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[INSERT POC STATUS / RESULTS WHEN AVAILABLE]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8</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Evaluation Plan &amp; Risks</a:t>
            </a:r>
            <a:endParaRPr lang="en-US" sz="3000" dirty="0"/>
          </a:p>
        </p:txBody>
      </p:sp>
      <p:sp>
        <p:nvSpPr>
          <p:cNvPr id="5" name="Shape 3"/>
          <p:cNvSpPr/>
          <p:nvPr/>
        </p:nvSpPr>
        <p:spPr>
          <a:xfrm>
            <a:off x="548640" y="1417320"/>
            <a:ext cx="5212080" cy="4480560"/>
          </a:xfrm>
          <a:prstGeom prst="roundRect">
            <a:avLst>
              <a:gd name="adj" fmla="val 1633"/>
            </a:avLst>
          </a:prstGeom>
          <a:solidFill>
            <a:srgbClr val="F6EEF1"/>
          </a:solidFill>
          <a:effectLst>
            <a:outerShdw blurRad="76200" dist="25400" dir="5400000" algn="bl" rotWithShape="0">
              <a:srgbClr val="3A2530">
                <a:alpha val="18000"/>
              </a:srgbClr>
            </a:outerShdw>
          </a:effectLst>
        </p:spPr>
      </p:sp>
      <p:sp>
        <p:nvSpPr>
          <p:cNvPr id="6" name="Shape 4"/>
          <p:cNvSpPr/>
          <p:nvPr/>
        </p:nvSpPr>
        <p:spPr>
          <a:xfrm>
            <a:off x="777240" y="1645920"/>
            <a:ext cx="548640" cy="548640"/>
          </a:xfrm>
          <a:prstGeom prst="ellipse">
            <a:avLst/>
          </a:prstGeom>
          <a:solidFill>
            <a:srgbClr val="7A1F3D"/>
          </a:solidFill>
        </p:spPr>
      </p:sp>
      <p:pic>
        <p:nvPicPr>
          <p:cNvPr id="7" name="Image 0" descr="C:\Users\abdta\AppData\Local\Temp\claude\C--Users-abdta-Desktop-FYP\b6a1f8e1-3045-43d7-9335-432e9d622fbb\scratchpad\pptx_build\icons\bar.png"/>
          <p:cNvPicPr>
            <a:picLocks noChangeAspect="1"/>
          </p:cNvPicPr>
          <p:nvPr/>
        </p:nvPicPr>
        <p:blipFill>
          <a:blip r:embed="rId1"/>
          <a:stretch>
            <a:fillRect/>
          </a:stretch>
        </p:blipFill>
        <p:spPr>
          <a:xfrm>
            <a:off x="908914" y="1777594"/>
            <a:ext cx="285293" cy="285293"/>
          </a:xfrm>
          <a:prstGeom prst="rect">
            <a:avLst/>
          </a:prstGeom>
        </p:spPr>
      </p:pic>
      <p:sp>
        <p:nvSpPr>
          <p:cNvPr id="8" name="Text 5"/>
          <p:cNvSpPr txBox="1"/>
          <p:nvPr/>
        </p:nvSpPr>
        <p:spPr>
          <a:xfrm>
            <a:off x="1463040" y="1737360"/>
            <a:ext cx="4114800" cy="411480"/>
          </a:xfrm>
          <a:prstGeom prst="rect">
            <a:avLst/>
          </a:prstGeom>
          <a:noFill/>
        </p:spPr>
        <p:txBody>
          <a:bodyPr wrap="square" lIns="0" tIns="0" rIns="0" bIns="0" rtlCol="0" anchor="ctr"/>
          <a:lstStyle/>
          <a:p>
            <a:pPr marL="0" indent="0">
              <a:buNone/>
            </a:pPr>
            <a:r>
              <a:rPr lang="en-US" sz="1600" b="1" dirty="0">
                <a:solidFill>
                  <a:srgbClr val="7A1F3D"/>
                </a:solidFill>
                <a:latin typeface="Cambria" panose="02040503050406030204" pitchFamily="34" charset="0"/>
                <a:ea typeface="Cambria" panose="02040503050406030204" pitchFamily="34" charset="-122"/>
                <a:cs typeface="Cambria" panose="02040503050406030204" pitchFamily="34" charset="-120"/>
              </a:rPr>
              <a:t>Baselines &amp; Metrics</a:t>
            </a:r>
            <a:endParaRPr lang="en-US" sz="1600" dirty="0"/>
          </a:p>
        </p:txBody>
      </p:sp>
      <p:sp>
        <p:nvSpPr>
          <p:cNvPr id="9" name="Text 6"/>
          <p:cNvSpPr txBox="1"/>
          <p:nvPr/>
        </p:nvSpPr>
        <p:spPr>
          <a:xfrm>
            <a:off x="822960" y="2331720"/>
            <a:ext cx="4663440" cy="3429000"/>
          </a:xfrm>
          <a:prstGeom prst="rect">
            <a:avLst/>
          </a:prstGeom>
          <a:noFill/>
        </p:spPr>
        <p:txBody>
          <a:bodyPr wrap="square" lIns="0" tIns="0" rIns="0" bIns="0" rtlCol="0" anchor="t"/>
          <a:lstStyle/>
          <a:p>
            <a:pPr marL="0" indent="0">
              <a:lnSpc>
                <a:spcPct val="120000"/>
              </a:lnSpc>
              <a:buNone/>
            </a:pPr>
            <a:r>
              <a:rPr lang="en-US" sz="1200" b="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Matching (CCP-1):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NSGA-II vs. a simple heuristic scored on the same features — fulfilment rate, travel distance, donor burden, eligibility compliance, computation time
</a:t>
            </a:r>
            <a:r>
              <a:rPr lang="en-US" sz="1200" b="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Forecasting (CCP-2):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naive baseline vs. the trained model — MAE, RMSE, MAPE, spike-period performance
</a:t>
            </a:r>
            <a:r>
              <a:rPr lang="en-US" sz="1200" b="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Why the objectives genuinely conflict: </a:t>
            </a:r>
            <a:r>
              <a:rPr lang="en-US" sz="1200"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a donor can match the requested group, live nearby and donate regularly — and still be the wrong person to show, because they gave blood a month ago. Match quality, proximity and donor recovery cannot be maximised together, so NSGA-II returns the trade-off front instead of one hidden weighting.</a:t>
            </a:r>
            <a:endParaRPr lang="en-US" sz="1200" dirty="0"/>
          </a:p>
        </p:txBody>
      </p:sp>
      <p:sp>
        <p:nvSpPr>
          <p:cNvPr id="10" name="Shape 7"/>
          <p:cNvSpPr/>
          <p:nvPr/>
        </p:nvSpPr>
        <p:spPr>
          <a:xfrm>
            <a:off x="6035040" y="1417320"/>
            <a:ext cx="5577840" cy="4480560"/>
          </a:xfrm>
          <a:prstGeom prst="roundRect">
            <a:avLst>
              <a:gd name="adj" fmla="val 1633"/>
            </a:avLst>
          </a:prstGeom>
          <a:solidFill>
            <a:srgbClr val="F6EEF1"/>
          </a:solidFill>
          <a:effectLst>
            <a:outerShdw blurRad="76200" dist="25400" dir="5400000" algn="bl" rotWithShape="0">
              <a:srgbClr val="3A2530">
                <a:alpha val="18000"/>
              </a:srgbClr>
            </a:outerShdw>
          </a:effectLst>
        </p:spPr>
      </p:sp>
      <p:sp>
        <p:nvSpPr>
          <p:cNvPr id="11" name="Shape 8"/>
          <p:cNvSpPr/>
          <p:nvPr/>
        </p:nvSpPr>
        <p:spPr>
          <a:xfrm>
            <a:off x="6263640" y="1645920"/>
            <a:ext cx="548640" cy="548640"/>
          </a:xfrm>
          <a:prstGeom prst="ellipse">
            <a:avLst/>
          </a:prstGeom>
          <a:solidFill>
            <a:srgbClr val="C9A227"/>
          </a:solidFill>
        </p:spPr>
      </p:sp>
      <p:pic>
        <p:nvPicPr>
          <p:cNvPr id="12" name="Image 1" descr="C:\Users\abdta\AppData\Local\Temp\claude\C--Users-abdta-Desktop-FYP\b6a1f8e1-3045-43d7-9335-432e9d622fbb\scratchpad\pptx_build\icons\warning.png"/>
          <p:cNvPicPr>
            <a:picLocks noChangeAspect="1"/>
          </p:cNvPicPr>
          <p:nvPr/>
        </p:nvPicPr>
        <p:blipFill>
          <a:blip r:embed="rId2"/>
          <a:stretch>
            <a:fillRect/>
          </a:stretch>
        </p:blipFill>
        <p:spPr>
          <a:xfrm>
            <a:off x="6395314" y="1777594"/>
            <a:ext cx="285293" cy="285293"/>
          </a:xfrm>
          <a:prstGeom prst="rect">
            <a:avLst/>
          </a:prstGeom>
        </p:spPr>
      </p:pic>
      <p:sp>
        <p:nvSpPr>
          <p:cNvPr id="13" name="Text 9"/>
          <p:cNvSpPr txBox="1"/>
          <p:nvPr/>
        </p:nvSpPr>
        <p:spPr>
          <a:xfrm>
            <a:off x="6949440" y="1737360"/>
            <a:ext cx="4572000" cy="411480"/>
          </a:xfrm>
          <a:prstGeom prst="rect">
            <a:avLst/>
          </a:prstGeom>
          <a:noFill/>
        </p:spPr>
        <p:txBody>
          <a:bodyPr wrap="square" lIns="0" tIns="0" rIns="0" bIns="0" rtlCol="0" anchor="ctr"/>
          <a:lstStyle/>
          <a:p>
            <a:pPr marL="0" indent="0">
              <a:buNone/>
            </a:pPr>
            <a:r>
              <a:rPr lang="en-US" sz="1600" b="1" dirty="0">
                <a:solidFill>
                  <a:srgbClr val="7A1F3D"/>
                </a:solidFill>
                <a:latin typeface="Cambria" panose="02040503050406030204" pitchFamily="34" charset="0"/>
                <a:ea typeface="Cambria" panose="02040503050406030204" pitchFamily="34" charset="-122"/>
                <a:cs typeface="Cambria" panose="02040503050406030204" pitchFamily="34" charset="-120"/>
              </a:rPr>
              <a:t>Top Risks &amp; Mitigations</a:t>
            </a:r>
            <a:endParaRPr lang="en-US" sz="1600" dirty="0"/>
          </a:p>
        </p:txBody>
      </p:sp>
      <p:sp>
        <p:nvSpPr>
          <p:cNvPr id="14" name="Text 10"/>
          <p:cNvSpPr txBox="1"/>
          <p:nvPr/>
        </p:nvSpPr>
        <p:spPr>
          <a:xfrm>
            <a:off x="6309360" y="233172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Two interacting AI components (matching + forecasting)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Validate each CCP independently before integrating; each engine is still useful on its own if the other underperforms</a:t>
            </a:r>
            <a:endParaRPr lang="en-US" sz="1200" dirty="0"/>
          </a:p>
        </p:txBody>
      </p:sp>
      <p:sp>
        <p:nvSpPr>
          <p:cNvPr id="15" name="Text 11"/>
          <p:cNvSpPr txBox="1"/>
          <p:nvPr/>
        </p:nvSpPr>
        <p:spPr>
          <a:xfrm>
            <a:off x="6309360" y="320040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Forecast doesn’t beat baseline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Report honestly; fall back to naive-driven risk signal</a:t>
            </a:r>
            <a:endParaRPr lang="en-US" sz="1200" dirty="0"/>
          </a:p>
        </p:txBody>
      </p:sp>
      <p:sp>
        <p:nvSpPr>
          <p:cNvPr id="16" name="Text 12"/>
          <p:cNvSpPr txBox="1"/>
          <p:nvPr/>
        </p:nvSpPr>
        <p:spPr>
          <a:xfrm>
            <a:off x="6309360" y="406908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Real dataset not yet secured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In contact with a blood-bank representative for real donation and demand data [NOT YET CONFIRMED]; the plan is already designed around synthetic/public data as primary evidence</a:t>
            </a:r>
            <a:endParaRPr lang="en-US" sz="1200" dirty="0"/>
          </a:p>
        </p:txBody>
      </p:sp>
      <p:sp>
        <p:nvSpPr>
          <p:cNvPr id="17" name="Text 13"/>
          <p:cNvSpPr txBox="1"/>
          <p:nvPr/>
        </p:nvSpPr>
        <p:spPr>
          <a:xfrm>
            <a:off x="6309360" y="4937760"/>
            <a:ext cx="5074920" cy="777240"/>
          </a:xfrm>
          <a:prstGeom prst="rect">
            <a:avLst/>
          </a:prstGeom>
          <a:noFill/>
        </p:spPr>
        <p:txBody>
          <a:bodyPr wrap="square" lIns="0" tIns="0" rIns="0" bIns="0" rtlCol="0" anchor="ctr"/>
          <a:lstStyle/>
          <a:p>
            <a:pPr marL="0" indent="0">
              <a:lnSpc>
                <a:spcPct val="110000"/>
              </a:lnSpc>
              <a:buNone/>
            </a:pPr>
            <a:r>
              <a:rPr lang="en-US" b="1" dirty="0">
                <a:solidFill>
                  <a:srgbClr val="7A1F3D"/>
                </a:solidFill>
                <a:latin typeface="Calibri" panose="020F0502020204030204" pitchFamily="34" charset="0"/>
                <a:ea typeface="Calibri" panose="020F0502020204030204" pitchFamily="34" charset="-122"/>
                <a:cs typeface="Calibri" panose="020F0502020204030204" pitchFamily="34" charset="-120"/>
              </a:rPr>
              <a:t xml:space="preserve">●  </a:t>
            </a:r>
            <a:r>
              <a:rPr lang="en-US" b="1" dirty="0" sz="120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Objective set must stay genuinely conflicting
</a:t>
            </a:r>
            <a:r>
              <a:rPr lang="en-US" dirty="0" i="1" sz="110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   Concrete conflict identified (donation recency vs. match quality vs. proximity); pressure-test the full objective set before implementation</a:t>
            </a:r>
            <a:endParaRPr lang="en-US" sz="1200" dirty="0"/>
          </a:p>
        </p:txBody>
      </p:sp>
      <p:sp>
        <p:nvSpPr>
          <p:cNvPr id="18" name="Text 14"/>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7A1F3D"/>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6B7280"/>
                </a:solidFill>
                <a:latin typeface="Calibri" panose="020F0502020204030204" pitchFamily="34" charset="0"/>
                <a:ea typeface="Calibri" panose="020F0502020204030204" pitchFamily="34" charset="-122"/>
                <a:cs typeface="Calibri" panose="020F0502020204030204" pitchFamily="34" charset="-120"/>
              </a:rPr>
              <a:t>SLIDE 9</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7A1F3D"/>
                </a:solidFill>
                <a:latin typeface="Cambria" panose="02040503050406030204" pitchFamily="34" charset="0"/>
                <a:ea typeface="Cambria" panose="02040503050406030204" pitchFamily="34" charset="-122"/>
                <a:cs typeface="Cambria" panose="02040503050406030204" pitchFamily="34" charset="-120"/>
              </a:rPr>
              <a:t>Work Division &amp; Iteration Plan</a:t>
            </a:r>
            <a:endParaRPr lang="en-US" sz="3000" dirty="0"/>
          </a:p>
        </p:txBody>
      </p:sp>
      <p:sp>
        <p:nvSpPr>
          <p:cNvPr id="5" name="Shape 3"/>
          <p:cNvSpPr/>
          <p:nvPr/>
        </p:nvSpPr>
        <p:spPr>
          <a:xfrm>
            <a:off x="9189720" y="566928"/>
            <a:ext cx="2468880" cy="347472"/>
          </a:xfrm>
          <a:prstGeom prst="roundRect">
            <a:avLst>
              <a:gd name="adj" fmla="val 50000"/>
            </a:avLst>
          </a:prstGeom>
          <a:solidFill>
            <a:srgbClr val="F6EEF1"/>
          </a:solidFill>
          <a:ln w="12700">
            <a:solidFill>
              <a:srgbClr val="C9A227"/>
            </a:solidFill>
            <a:prstDash val="solid"/>
          </a:ln>
        </p:spPr>
      </p:sp>
      <p:sp>
        <p:nvSpPr>
          <p:cNvPr id="6" name="Text 4"/>
          <p:cNvSpPr txBox="1"/>
          <p:nvPr/>
        </p:nvSpPr>
        <p:spPr>
          <a:xfrm>
            <a:off x="9189720" y="566928"/>
            <a:ext cx="2468880" cy="347472"/>
          </a:xfrm>
          <a:prstGeom prst="rect">
            <a:avLst/>
          </a:prstGeom>
          <a:noFill/>
        </p:spPr>
        <p:txBody>
          <a:bodyPr wrap="square" lIns="0" tIns="0" rIns="0" bIns="0" rtlCol="0" anchor="ctr"/>
          <a:lstStyle/>
          <a:p>
            <a:pPr marL="0" indent="0" algn="ctr">
              <a:buNone/>
            </a:pPr>
            <a:r>
              <a:rPr lang="en-US" sz="850" b="1" dirty="0">
                <a:solidFill>
                  <a:srgbClr val="7A1F3D"/>
                </a:solidFill>
                <a:latin typeface="Calibri" panose="020F0502020204030204" pitchFamily="34" charset="0"/>
                <a:ea typeface="Calibri" panose="020F0502020204030204" pitchFamily="34" charset="-122"/>
                <a:cs typeface="Calibri" panose="020F0502020204030204" pitchFamily="34" charset="-120"/>
              </a:rPr>
              <a:t>PROVISIONAL — needs team confirmation</a:t>
            </a:r>
            <a:endParaRPr lang="en-US" sz="850" dirty="0"/>
          </a:p>
        </p:txBody>
      </p:sp>
      <p:sp>
        <p:nvSpPr>
          <p:cNvPr id="7" name="Shape 5"/>
          <p:cNvSpPr/>
          <p:nvPr/>
        </p:nvSpPr>
        <p:spPr>
          <a:xfrm>
            <a:off x="548640" y="1508760"/>
            <a:ext cx="3511296" cy="2011680"/>
          </a:xfrm>
          <a:prstGeom prst="roundRect">
            <a:avLst>
              <a:gd name="adj" fmla="val 3636"/>
            </a:avLst>
          </a:prstGeom>
          <a:solidFill>
            <a:srgbClr val="F6EEF1"/>
          </a:solidFill>
          <a:effectLst>
            <a:outerShdw blurRad="76200" dist="25400" dir="5400000" algn="bl" rotWithShape="0">
              <a:srgbClr val="3A2530">
                <a:alpha val="18000"/>
              </a:srgbClr>
            </a:outerShdw>
          </a:effectLst>
        </p:spPr>
      </p:sp>
      <p:sp>
        <p:nvSpPr>
          <p:cNvPr id="8" name="Shape 6"/>
          <p:cNvSpPr/>
          <p:nvPr/>
        </p:nvSpPr>
        <p:spPr>
          <a:xfrm>
            <a:off x="1892808" y="1691640"/>
            <a:ext cx="822960" cy="822960"/>
          </a:xfrm>
          <a:prstGeom prst="ellipse">
            <a:avLst/>
          </a:prstGeom>
          <a:solidFill>
            <a:srgbClr val="7A1F3D"/>
          </a:solidFill>
        </p:spPr>
      </p:sp>
      <p:pic>
        <p:nvPicPr>
          <p:cNvPr id="9" name="Image 0" descr="C:\Users\abdta\AppData\Local\Temp\claude\C--Users-abdta-Desktop-FYP\b6a1f8e1-3045-43d7-9335-432e9d622fbb\scratchpad\pptx_build\icons\usercircle.png"/>
          <p:cNvPicPr>
            <a:picLocks noChangeAspect="1"/>
          </p:cNvPicPr>
          <p:nvPr/>
        </p:nvPicPr>
        <p:blipFill>
          <a:blip r:embed="rId1"/>
          <a:stretch>
            <a:fillRect/>
          </a:stretch>
        </p:blipFill>
        <p:spPr>
          <a:xfrm>
            <a:off x="2090318" y="1889150"/>
            <a:ext cx="427939" cy="427939"/>
          </a:xfrm>
          <a:prstGeom prst="rect">
            <a:avLst/>
          </a:prstGeom>
        </p:spPr>
      </p:pic>
      <p:sp>
        <p:nvSpPr>
          <p:cNvPr id="10" name="Text 7"/>
          <p:cNvSpPr txBox="1"/>
          <p:nvPr/>
        </p:nvSpPr>
        <p:spPr>
          <a:xfrm>
            <a:off x="685800" y="2606040"/>
            <a:ext cx="3236976" cy="365760"/>
          </a:xfrm>
          <a:prstGeom prst="rect">
            <a:avLst/>
          </a:prstGeom>
          <a:noFill/>
        </p:spPr>
        <p:txBody>
          <a:bodyPr wrap="square" lIns="0" tIns="0" rIns="0" bIns="0" rtlCol="0" anchor="ctr"/>
          <a:lstStyle/>
          <a:p>
            <a:pPr marL="0" indent="0" algn="ctr">
              <a:buNone/>
            </a:pPr>
            <a:r>
              <a:rPr lang="en-US" sz="1500" b="1" dirty="0">
                <a:solidFill>
                  <a:srgbClr val="1F2A44"/>
                </a:solidFill>
                <a:latin typeface="Cambria" panose="02040503050406030204" pitchFamily="34" charset="0"/>
                <a:ea typeface="Cambria" panose="02040503050406030204" pitchFamily="34" charset="-122"/>
                <a:cs typeface="Cambria" panose="02040503050406030204" pitchFamily="34" charset="-120"/>
              </a:rPr>
              <a:t>Abdullah Tariq</a:t>
            </a:r>
            <a:endParaRPr lang="en-US" sz="1500" dirty="0"/>
          </a:p>
        </p:txBody>
      </p:sp>
      <p:sp>
        <p:nvSpPr>
          <p:cNvPr id="11" name="Text 8"/>
          <p:cNvSpPr txBox="1"/>
          <p:nvPr/>
        </p:nvSpPr>
        <p:spPr>
          <a:xfrm>
            <a:off x="777240" y="2971800"/>
            <a:ext cx="3054096" cy="5029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CCP-2: Demand Forecasting Model + Evaluation Framework</a:t>
            </a:r>
            <a:endParaRPr lang="en-US" sz="1050" dirty="0"/>
          </a:p>
        </p:txBody>
      </p:sp>
      <p:sp>
        <p:nvSpPr>
          <p:cNvPr id="12" name="Shape 9"/>
          <p:cNvSpPr/>
          <p:nvPr/>
        </p:nvSpPr>
        <p:spPr>
          <a:xfrm>
            <a:off x="4334256" y="1508760"/>
            <a:ext cx="3511296" cy="2011680"/>
          </a:xfrm>
          <a:prstGeom prst="roundRect">
            <a:avLst>
              <a:gd name="adj" fmla="val 3636"/>
            </a:avLst>
          </a:prstGeom>
          <a:solidFill>
            <a:srgbClr val="F6EEF1"/>
          </a:solidFill>
          <a:effectLst>
            <a:outerShdw blurRad="76200" dist="25400" dir="5400000" algn="bl" rotWithShape="0">
              <a:srgbClr val="3A2530">
                <a:alpha val="18000"/>
              </a:srgbClr>
            </a:outerShdw>
          </a:effectLst>
        </p:spPr>
      </p:sp>
      <p:sp>
        <p:nvSpPr>
          <p:cNvPr id="13" name="Shape 10"/>
          <p:cNvSpPr/>
          <p:nvPr/>
        </p:nvSpPr>
        <p:spPr>
          <a:xfrm>
            <a:off x="5678424" y="1691640"/>
            <a:ext cx="822960" cy="822960"/>
          </a:xfrm>
          <a:prstGeom prst="ellipse">
            <a:avLst/>
          </a:prstGeom>
          <a:solidFill>
            <a:srgbClr val="1F2A44"/>
          </a:solidFill>
        </p:spPr>
      </p:sp>
      <p:pic>
        <p:nvPicPr>
          <p:cNvPr id="14" name="Image 1" descr="C:\Users\abdta\AppData\Local\Temp\claude\C--Users-abdta-Desktop-FYP\b6a1f8e1-3045-43d7-9335-432e9d622fbb\scratchpad\pptx_build\icons\usercircle.png"/>
          <p:cNvPicPr>
            <a:picLocks noChangeAspect="1"/>
          </p:cNvPicPr>
          <p:nvPr/>
        </p:nvPicPr>
        <p:blipFill>
          <a:blip r:embed="rId1"/>
          <a:stretch>
            <a:fillRect/>
          </a:stretch>
        </p:blipFill>
        <p:spPr>
          <a:xfrm>
            <a:off x="5875934" y="1889150"/>
            <a:ext cx="427939" cy="427939"/>
          </a:xfrm>
          <a:prstGeom prst="rect">
            <a:avLst/>
          </a:prstGeom>
        </p:spPr>
      </p:pic>
      <p:sp>
        <p:nvSpPr>
          <p:cNvPr id="15" name="Text 11"/>
          <p:cNvSpPr txBox="1"/>
          <p:nvPr/>
        </p:nvSpPr>
        <p:spPr>
          <a:xfrm>
            <a:off x="4471416" y="2606040"/>
            <a:ext cx="3236976" cy="365760"/>
          </a:xfrm>
          <a:prstGeom prst="rect">
            <a:avLst/>
          </a:prstGeom>
          <a:noFill/>
        </p:spPr>
        <p:txBody>
          <a:bodyPr wrap="square" lIns="0" tIns="0" rIns="0" bIns="0" rtlCol="0" anchor="ctr"/>
          <a:lstStyle/>
          <a:p>
            <a:pPr marL="0" indent="0" algn="ctr">
              <a:buNone/>
            </a:pPr>
            <a:r>
              <a:rPr lang="en-US" sz="1500" b="1" dirty="0">
                <a:solidFill>
                  <a:srgbClr val="1F2A44"/>
                </a:solidFill>
                <a:latin typeface="Cambria" panose="02040503050406030204" pitchFamily="34" charset="0"/>
                <a:ea typeface="Cambria" panose="02040503050406030204" pitchFamily="34" charset="-122"/>
                <a:cs typeface="Cambria" panose="02040503050406030204" pitchFamily="34" charset="-120"/>
              </a:rPr>
              <a:t>Malik Usman</a:t>
            </a:r>
            <a:endParaRPr lang="en-US" sz="1500" dirty="0"/>
          </a:p>
        </p:txBody>
      </p:sp>
      <p:sp>
        <p:nvSpPr>
          <p:cNvPr id="16" name="Text 12"/>
          <p:cNvSpPr txBox="1"/>
          <p:nvPr/>
        </p:nvSpPr>
        <p:spPr>
          <a:xfrm>
            <a:off x="4562856" y="2971800"/>
            <a:ext cx="3054096" cy="5029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CCP-1: NSGA-II Donor Matching + Map Integration</a:t>
            </a:r>
            <a:endParaRPr lang="en-US" sz="1050" dirty="0"/>
          </a:p>
        </p:txBody>
      </p:sp>
      <p:sp>
        <p:nvSpPr>
          <p:cNvPr id="17" name="Shape 13"/>
          <p:cNvSpPr/>
          <p:nvPr/>
        </p:nvSpPr>
        <p:spPr>
          <a:xfrm>
            <a:off x="8119872" y="1508760"/>
            <a:ext cx="3511296" cy="2011680"/>
          </a:xfrm>
          <a:prstGeom prst="roundRect">
            <a:avLst>
              <a:gd name="adj" fmla="val 3636"/>
            </a:avLst>
          </a:prstGeom>
          <a:solidFill>
            <a:srgbClr val="F6EEF1"/>
          </a:solidFill>
          <a:effectLst>
            <a:outerShdw blurRad="76200" dist="25400" dir="5400000" algn="bl" rotWithShape="0">
              <a:srgbClr val="3A2530">
                <a:alpha val="18000"/>
              </a:srgbClr>
            </a:outerShdw>
          </a:effectLst>
        </p:spPr>
      </p:sp>
      <p:sp>
        <p:nvSpPr>
          <p:cNvPr id="18" name="Shape 14"/>
          <p:cNvSpPr/>
          <p:nvPr/>
        </p:nvSpPr>
        <p:spPr>
          <a:xfrm>
            <a:off x="9464040" y="1691640"/>
            <a:ext cx="822960" cy="822960"/>
          </a:xfrm>
          <a:prstGeom prst="ellipse">
            <a:avLst/>
          </a:prstGeom>
          <a:solidFill>
            <a:srgbClr val="C9A227"/>
          </a:solidFill>
        </p:spPr>
      </p:sp>
      <p:pic>
        <p:nvPicPr>
          <p:cNvPr id="19" name="Image 2" descr="C:\Users\abdta\AppData\Local\Temp\claude\C--Users-abdta-Desktop-FYP\b6a1f8e1-3045-43d7-9335-432e9d622fbb\scratchpad\pptx_build\icons\usercircle.png"/>
          <p:cNvPicPr>
            <a:picLocks noChangeAspect="1"/>
          </p:cNvPicPr>
          <p:nvPr/>
        </p:nvPicPr>
        <p:blipFill>
          <a:blip r:embed="rId1"/>
          <a:stretch>
            <a:fillRect/>
          </a:stretch>
        </p:blipFill>
        <p:spPr>
          <a:xfrm>
            <a:off x="9661550" y="1889150"/>
            <a:ext cx="427939" cy="427939"/>
          </a:xfrm>
          <a:prstGeom prst="rect">
            <a:avLst/>
          </a:prstGeom>
        </p:spPr>
      </p:pic>
      <p:sp>
        <p:nvSpPr>
          <p:cNvPr id="20" name="Text 15"/>
          <p:cNvSpPr txBox="1"/>
          <p:nvPr/>
        </p:nvSpPr>
        <p:spPr>
          <a:xfrm>
            <a:off x="8257032" y="2606040"/>
            <a:ext cx="3236976" cy="365760"/>
          </a:xfrm>
          <a:prstGeom prst="rect">
            <a:avLst/>
          </a:prstGeom>
          <a:noFill/>
        </p:spPr>
        <p:txBody>
          <a:bodyPr wrap="square" lIns="0" tIns="0" rIns="0" bIns="0" rtlCol="0" anchor="ctr"/>
          <a:lstStyle/>
          <a:p>
            <a:pPr marL="0" indent="0" algn="ctr">
              <a:buNone/>
            </a:pPr>
            <a:r>
              <a:rPr lang="en-US" sz="1500" b="1" dirty="0">
                <a:solidFill>
                  <a:srgbClr val="1F2A44"/>
                </a:solidFill>
                <a:latin typeface="Cambria" panose="02040503050406030204" pitchFamily="34" charset="0"/>
                <a:ea typeface="Cambria" panose="02040503050406030204" pitchFamily="34" charset="-122"/>
                <a:cs typeface="Cambria" panose="02040503050406030204" pitchFamily="34" charset="-120"/>
              </a:rPr>
              <a:t>Rizwan Saeed</a:t>
            </a:r>
            <a:endParaRPr lang="en-US" sz="1500" dirty="0"/>
          </a:p>
        </p:txBody>
      </p:sp>
      <p:sp>
        <p:nvSpPr>
          <p:cNvPr id="21" name="Text 16"/>
          <p:cNvSpPr txBox="1"/>
          <p:nvPr/>
        </p:nvSpPr>
        <p:spPr>
          <a:xfrm>
            <a:off x="8348472" y="2971800"/>
            <a:ext cx="3054096" cy="502920"/>
          </a:xfrm>
          <a:prstGeom prst="rect">
            <a:avLst/>
          </a:prstGeom>
          <a:noFill/>
        </p:spPr>
        <p:txBody>
          <a:bodyPr wrap="square" lIns="0" tIns="0" rIns="0" bIns="0" rtlCol="0" anchor="ctr"/>
          <a:lstStyle/>
          <a:p>
            <a:pPr marL="0" indent="0" algn="ctr">
              <a:buNone/>
            </a:pPr>
            <a:r>
              <a:rPr lang="en-US" sz="1050" i="1" dirty="0">
                <a:solidFill>
                  <a:srgbClr val="6B7280"/>
                </a:solidFill>
                <a:latin typeface="Calibri" panose="020F0502020204030204" pitchFamily="34" charset="0"/>
                <a:ea typeface="Calibri" panose="020F0502020204030204" pitchFamily="34" charset="-122"/>
                <a:cs typeface="Calibri" panose="020F0502020204030204" pitchFamily="34" charset="-120"/>
              </a:rPr>
              <a:t xml:space="preserve">Blood-Bank Portal &amp; Inter-Bank Communication + Backend / Deployment</a:t>
            </a:r>
            <a:endParaRPr lang="en-US" sz="1050" dirty="0"/>
          </a:p>
        </p:txBody>
      </p:sp>
      <p:sp>
        <p:nvSpPr>
          <p:cNvPr id="22" name="Shape 17"/>
          <p:cNvSpPr/>
          <p:nvPr/>
        </p:nvSpPr>
        <p:spPr>
          <a:xfrm>
            <a:off x="822960" y="4160520"/>
            <a:ext cx="10515600" cy="27432"/>
          </a:xfrm>
          <a:prstGeom prst="rect">
            <a:avLst/>
          </a:prstGeom>
          <a:solidFill>
            <a:srgbClr val="E3DADD"/>
          </a:solidFill>
        </p:spPr>
      </p:sp>
      <p:sp>
        <p:nvSpPr>
          <p:cNvPr id="23" name="Shape 18"/>
          <p:cNvSpPr/>
          <p:nvPr/>
        </p:nvSpPr>
        <p:spPr>
          <a:xfrm>
            <a:off x="822960" y="4114800"/>
            <a:ext cx="118872" cy="118872"/>
          </a:xfrm>
          <a:prstGeom prst="ellipse">
            <a:avLst/>
          </a:prstGeom>
          <a:solidFill>
            <a:srgbClr val="7A1F3D"/>
          </a:solidFill>
        </p:spPr>
      </p:sp>
      <p:sp>
        <p:nvSpPr>
          <p:cNvPr id="24" name="Text 19"/>
          <p:cNvSpPr txBox="1"/>
          <p:nvPr/>
        </p:nvSpPr>
        <p:spPr>
          <a:xfrm>
            <a:off x="45720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FYP-1</a:t>
            </a:r>
            <a:endParaRPr lang="en-US" sz="850" dirty="0"/>
          </a:p>
        </p:txBody>
      </p:sp>
      <p:sp>
        <p:nvSpPr>
          <p:cNvPr id="25" name="Text 20"/>
          <p:cNvSpPr txBox="1"/>
          <p:nvPr/>
        </p:nvSpPr>
        <p:spPr>
          <a:xfrm>
            <a:off x="45720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Research</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Validation</a:t>
            </a:r>
            <a:endParaRPr lang="en-US" sz="950" dirty="0"/>
          </a:p>
        </p:txBody>
      </p:sp>
      <p:sp>
        <p:nvSpPr>
          <p:cNvPr id="26" name="Shape 21"/>
          <p:cNvSpPr/>
          <p:nvPr/>
        </p:nvSpPr>
        <p:spPr>
          <a:xfrm>
            <a:off x="3063240" y="4114800"/>
            <a:ext cx="118872" cy="118872"/>
          </a:xfrm>
          <a:prstGeom prst="ellipse">
            <a:avLst/>
          </a:prstGeom>
          <a:solidFill>
            <a:srgbClr val="7A1F3D"/>
          </a:solidFill>
        </p:spPr>
      </p:sp>
      <p:sp>
        <p:nvSpPr>
          <p:cNvPr id="27" name="Text 22"/>
          <p:cNvSpPr txBox="1"/>
          <p:nvPr/>
        </p:nvSpPr>
        <p:spPr>
          <a:xfrm>
            <a:off x="269748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FYP-1</a:t>
            </a:r>
            <a:endParaRPr lang="en-US" sz="850" dirty="0"/>
          </a:p>
        </p:txBody>
      </p:sp>
      <p:sp>
        <p:nvSpPr>
          <p:cNvPr id="28" name="Text 23"/>
          <p:cNvSpPr txBox="1"/>
          <p:nvPr/>
        </p:nvSpPr>
        <p:spPr>
          <a:xfrm>
            <a:off x="269748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Architecture</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 Prototypes</a:t>
            </a:r>
            <a:endParaRPr lang="en-US" sz="950" dirty="0"/>
          </a:p>
        </p:txBody>
      </p:sp>
      <p:sp>
        <p:nvSpPr>
          <p:cNvPr id="29" name="Shape 24"/>
          <p:cNvSpPr/>
          <p:nvPr/>
        </p:nvSpPr>
        <p:spPr>
          <a:xfrm>
            <a:off x="5303520" y="4114800"/>
            <a:ext cx="118872" cy="118872"/>
          </a:xfrm>
          <a:prstGeom prst="ellipse">
            <a:avLst/>
          </a:prstGeom>
          <a:solidFill>
            <a:srgbClr val="7A1F3D"/>
          </a:solidFill>
        </p:spPr>
      </p:sp>
      <p:sp>
        <p:nvSpPr>
          <p:cNvPr id="30" name="Text 25"/>
          <p:cNvSpPr txBox="1"/>
          <p:nvPr/>
        </p:nvSpPr>
        <p:spPr>
          <a:xfrm>
            <a:off x="493776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FYP-1</a:t>
            </a:r>
            <a:endParaRPr lang="en-US" sz="850" dirty="0"/>
          </a:p>
        </p:txBody>
      </p:sp>
      <p:sp>
        <p:nvSpPr>
          <p:cNvPr id="31" name="Text 26"/>
          <p:cNvSpPr txBox="1"/>
          <p:nvPr/>
        </p:nvSpPr>
        <p:spPr>
          <a:xfrm>
            <a:off x="493776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POC +</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Proposal Defense</a:t>
            </a:r>
            <a:endParaRPr lang="en-US" sz="950" dirty="0"/>
          </a:p>
        </p:txBody>
      </p:sp>
      <p:sp>
        <p:nvSpPr>
          <p:cNvPr id="32" name="Shape 27"/>
          <p:cNvSpPr/>
          <p:nvPr/>
        </p:nvSpPr>
        <p:spPr>
          <a:xfrm>
            <a:off x="7543800" y="4114800"/>
            <a:ext cx="118872" cy="118872"/>
          </a:xfrm>
          <a:prstGeom prst="ellipse">
            <a:avLst/>
          </a:prstGeom>
          <a:solidFill>
            <a:srgbClr val="1F2A44"/>
          </a:solidFill>
        </p:spPr>
      </p:sp>
      <p:sp>
        <p:nvSpPr>
          <p:cNvPr id="33" name="Text 28"/>
          <p:cNvSpPr txBox="1"/>
          <p:nvPr/>
        </p:nvSpPr>
        <p:spPr>
          <a:xfrm>
            <a:off x="717804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FYP-2</a:t>
            </a:r>
            <a:endParaRPr lang="en-US" sz="850" dirty="0"/>
          </a:p>
        </p:txBody>
      </p:sp>
      <p:sp>
        <p:nvSpPr>
          <p:cNvPr id="34" name="Text 29"/>
          <p:cNvSpPr txBox="1"/>
          <p:nvPr/>
        </p:nvSpPr>
        <p:spPr>
          <a:xfrm>
            <a:off x="717804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Full Implementation</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 Integration</a:t>
            </a:r>
            <a:endParaRPr lang="en-US" sz="950" dirty="0"/>
          </a:p>
        </p:txBody>
      </p:sp>
      <p:sp>
        <p:nvSpPr>
          <p:cNvPr id="35" name="Shape 30"/>
          <p:cNvSpPr/>
          <p:nvPr/>
        </p:nvSpPr>
        <p:spPr>
          <a:xfrm>
            <a:off x="9784080" y="4114800"/>
            <a:ext cx="118872" cy="118872"/>
          </a:xfrm>
          <a:prstGeom prst="ellipse">
            <a:avLst/>
          </a:prstGeom>
          <a:solidFill>
            <a:srgbClr val="1F2A44"/>
          </a:solidFill>
        </p:spPr>
      </p:sp>
      <p:sp>
        <p:nvSpPr>
          <p:cNvPr id="36" name="Text 31"/>
          <p:cNvSpPr txBox="1"/>
          <p:nvPr/>
        </p:nvSpPr>
        <p:spPr>
          <a:xfrm>
            <a:off x="9418320" y="4297680"/>
            <a:ext cx="850392" cy="228600"/>
          </a:xfrm>
          <a:prstGeom prst="rect">
            <a:avLst/>
          </a:prstGeom>
          <a:noFill/>
        </p:spPr>
        <p:txBody>
          <a:bodyPr wrap="square" lIns="0" tIns="0" rIns="0" bIns="0" rtlCol="0" anchor="ctr"/>
          <a:lstStyle/>
          <a:p>
            <a:pPr marL="0" indent="0" algn="ctr">
              <a:buNone/>
            </a:pPr>
            <a:r>
              <a:rPr lang="en-US" sz="850" b="1" dirty="0">
                <a:solidFill>
                  <a:srgbClr val="C9A227"/>
                </a:solidFill>
                <a:latin typeface="Calibri" panose="020F0502020204030204" pitchFamily="34" charset="0"/>
                <a:ea typeface="Calibri" panose="020F0502020204030204" pitchFamily="34" charset="-122"/>
                <a:cs typeface="Calibri" panose="020F0502020204030204" pitchFamily="34" charset="-120"/>
              </a:rPr>
              <a:t>FYP-2</a:t>
            </a:r>
            <a:endParaRPr lang="en-US" sz="850" dirty="0"/>
          </a:p>
        </p:txBody>
      </p:sp>
      <p:sp>
        <p:nvSpPr>
          <p:cNvPr id="37" name="Text 32"/>
          <p:cNvSpPr txBox="1"/>
          <p:nvPr/>
        </p:nvSpPr>
        <p:spPr>
          <a:xfrm>
            <a:off x="9418320" y="4526280"/>
            <a:ext cx="850392" cy="548640"/>
          </a:xfrm>
          <a:prstGeom prst="rect">
            <a:avLst/>
          </a:prstGeom>
          <a:noFill/>
        </p:spPr>
        <p:txBody>
          <a:bodyPr wrap="square" lIns="0" tIns="0" rIns="0" bIns="0" rtlCol="0" anchor="ctr"/>
          <a:lstStyle/>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Evaluation +</a:t>
            </a:r>
            <a:endParaRPr lang="en-US" sz="950" dirty="0"/>
          </a:p>
          <a:p>
            <a:pPr marL="0" indent="0" algn="ctr">
              <a:lnSpc>
                <a:spcPct val="105000"/>
              </a:lnSpc>
              <a:buNone/>
            </a:pPr>
            <a:r>
              <a:rPr lang="en-US" sz="950" dirty="0">
                <a:solidFill>
                  <a:srgbClr val="1F2A44"/>
                </a:solidFill>
                <a:latin typeface="Calibri" panose="020F0502020204030204" pitchFamily="34" charset="0"/>
                <a:ea typeface="Calibri" panose="020F0502020204030204" pitchFamily="34" charset="-122"/>
                <a:cs typeface="Calibri" panose="020F0502020204030204" pitchFamily="34" charset="-120"/>
              </a:rPr>
              <a:t>Final Defense</a:t>
            </a:r>
            <a:endParaRPr lang="en-US" sz="950" dirty="0"/>
          </a:p>
        </p:txBody>
      </p:sp>
      <p:sp>
        <p:nvSpPr>
          <p:cNvPr id="38" name="Text 33"/>
          <p:cNvSpPr txBox="1"/>
          <p:nvPr/>
        </p:nvSpPr>
        <p:spPr>
          <a:xfrm>
            <a:off x="548640" y="5623560"/>
            <a:ext cx="11064240" cy="548640"/>
          </a:xfrm>
          <a:prstGeom prst="rect">
            <a:avLst/>
          </a:prstGeom>
          <a:noFill/>
        </p:spPr>
        <p:txBody>
          <a:bodyPr wrap="square" lIns="0" tIns="0" rIns="0" bIns="0" rtlCol="0" anchor="ctr"/>
          <a:lstStyle/>
          <a:p>
            <a:pPr marL="0" indent="0">
              <a:buNone/>
            </a:pPr>
            <a:r>
              <a:rPr lang="en-US" sz="1100" i="1" dirty="0">
                <a:solidFill>
                  <a:srgbClr val="1F2A44"/>
                </a:solidFill>
                <a:latin typeface="Calibri" panose="020F0502020204030204" pitchFamily="34" charset="0"/>
                <a:ea typeface="Calibri" panose="020F0502020204030204" pitchFamily="34" charset="-122"/>
                <a:cs typeface="Calibri" panose="020F0502020204030204" pitchFamily="34" charset="-120"/>
              </a:rPr>
              <a:t xml:space="preserve">Two members own one CCP end-to-end (data → algorithm → evaluation); the third owns the platform layer both CCPs are delivered through. Shared: integration testing, mobile/web work. [INSERT OFFICIAL FYP TIMELINE] · [INSERT MILESTONES]</a:t>
            </a:r>
            <a:endParaRPr lang="en-US" sz="1100" dirty="0"/>
          </a:p>
        </p:txBody>
      </p:sp>
      <p:sp>
        <p:nvSpPr>
          <p:cNvPr id="39" name="Text 34"/>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09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2A44"/>
        </a:solidFill>
        <a:effectLst/>
      </p:bgPr>
    </p:bg>
    <p:spTree>
      <p:nvGrpSpPr>
        <p:cNvPr id="1" name=""/>
        <p:cNvGrpSpPr/>
        <p:nvPr/>
      </p:nvGrpSpPr>
      <p:grpSpPr>
        <a:xfrm>
          <a:off x="0" y="0"/>
          <a:ext cx="0" cy="0"/>
          <a:chOff x="0" y="0"/>
          <a:chExt cx="0" cy="0"/>
        </a:xfrm>
      </p:grpSpPr>
      <p:sp>
        <p:nvSpPr>
          <p:cNvPr id="2" name="Shape 0"/>
          <p:cNvSpPr/>
          <p:nvPr/>
        </p:nvSpPr>
        <p:spPr>
          <a:xfrm>
            <a:off x="548640" y="566928"/>
            <a:ext cx="128016" cy="128016"/>
          </a:xfrm>
          <a:prstGeom prst="ellipse">
            <a:avLst/>
          </a:prstGeom>
          <a:solidFill>
            <a:srgbClr val="C9A227"/>
          </a:solidFill>
        </p:spPr>
      </p:sp>
      <p:sp>
        <p:nvSpPr>
          <p:cNvPr id="3" name="Text 1"/>
          <p:cNvSpPr txBox="1"/>
          <p:nvPr/>
        </p:nvSpPr>
        <p:spPr>
          <a:xfrm>
            <a:off x="786384" y="310896"/>
            <a:ext cx="7772400" cy="256032"/>
          </a:xfrm>
          <a:prstGeom prst="rect">
            <a:avLst/>
          </a:prstGeom>
          <a:noFill/>
        </p:spPr>
        <p:txBody>
          <a:bodyPr wrap="square" lIns="0" tIns="0" rIns="0" bIns="0" rtlCol="0" anchor="ctr"/>
          <a:lstStyle/>
          <a:p>
            <a:pPr marL="0" indent="0">
              <a:buNone/>
            </a:pPr>
            <a:r>
              <a:rPr lang="en-US" sz="1100" b="1" kern="0" spc="200" dirty="0">
                <a:solidFill>
                  <a:srgbClr val="B9B0C4"/>
                </a:solidFill>
                <a:latin typeface="Calibri" panose="020F0502020204030204" pitchFamily="34" charset="0"/>
                <a:ea typeface="Calibri" panose="020F0502020204030204" pitchFamily="34" charset="-122"/>
                <a:cs typeface="Calibri" panose="020F0502020204030204" pitchFamily="34" charset="-120"/>
              </a:rPr>
              <a:t>SLIDE 10</a:t>
            </a:r>
            <a:endParaRPr lang="en-US" sz="1100" dirty="0"/>
          </a:p>
        </p:txBody>
      </p:sp>
      <p:sp>
        <p:nvSpPr>
          <p:cNvPr id="4" name="Text 2"/>
          <p:cNvSpPr txBox="1"/>
          <p:nvPr/>
        </p:nvSpPr>
        <p:spPr>
          <a:xfrm>
            <a:off x="786384" y="530352"/>
            <a:ext cx="10789920" cy="64008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DEI, Ethics and Legal Considerations</a:t>
            </a:r>
            <a:endParaRPr lang="en-US" sz="3000" dirty="0"/>
          </a:p>
        </p:txBody>
      </p:sp>
      <p:sp>
        <p:nvSpPr>
          <p:cNvPr id="5" name="Shape 3"/>
          <p:cNvSpPr/>
          <p:nvPr/>
        </p:nvSpPr>
        <p:spPr>
          <a:xfrm>
            <a:off x="548640" y="1508760"/>
            <a:ext cx="3520440" cy="1965960"/>
          </a:xfrm>
          <a:prstGeom prst="roundRect">
            <a:avLst>
              <a:gd name="adj" fmla="val 3721"/>
            </a:avLst>
          </a:prstGeom>
          <a:solidFill>
            <a:srgbClr val="283A5E"/>
          </a:solidFill>
        </p:spPr>
      </p:sp>
      <p:sp>
        <p:nvSpPr>
          <p:cNvPr id="6" name="Shape 4"/>
          <p:cNvSpPr/>
          <p:nvPr/>
        </p:nvSpPr>
        <p:spPr>
          <a:xfrm>
            <a:off x="777240" y="1737360"/>
            <a:ext cx="566928" cy="566928"/>
          </a:xfrm>
          <a:prstGeom prst="ellipse">
            <a:avLst/>
          </a:prstGeom>
          <a:solidFill>
            <a:srgbClr val="7A1F3D"/>
          </a:solidFill>
        </p:spPr>
      </p:sp>
      <p:pic>
        <p:nvPicPr>
          <p:cNvPr id="7" name="Image 0" descr="C:\Users\abdta\AppData\Local\Temp\claude\C--Users-abdta-Desktop-FYP\b6a1f8e1-3045-43d7-9335-432e9d622fbb\scratchpad\pptx_build\icons\lock.png"/>
          <p:cNvPicPr>
            <a:picLocks noChangeAspect="1"/>
          </p:cNvPicPr>
          <p:nvPr/>
        </p:nvPicPr>
        <p:blipFill>
          <a:blip r:embed="rId1"/>
          <a:stretch>
            <a:fillRect/>
          </a:stretch>
        </p:blipFill>
        <p:spPr>
          <a:xfrm>
            <a:off x="913303" y="1873423"/>
            <a:ext cx="294803" cy="294803"/>
          </a:xfrm>
          <a:prstGeom prst="rect">
            <a:avLst/>
          </a:prstGeom>
        </p:spPr>
      </p:pic>
      <p:sp>
        <p:nvSpPr>
          <p:cNvPr id="8" name="Text 5"/>
          <p:cNvSpPr txBox="1"/>
          <p:nvPr/>
        </p:nvSpPr>
        <p:spPr>
          <a:xfrm>
            <a:off x="1508760" y="176479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Privacy</a:t>
            </a:r>
            <a:endParaRPr lang="en-US" sz="1450" dirty="0"/>
          </a:p>
        </p:txBody>
      </p:sp>
      <p:sp>
        <p:nvSpPr>
          <p:cNvPr id="9" name="Text 6"/>
          <p:cNvSpPr txBox="1"/>
          <p:nvPr/>
        </p:nvSpPr>
        <p:spPr>
          <a:xfrm>
            <a:off x="777240" y="237744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Map shows donors as a generalized area, never an exact pin, until a request is accepted</a:t>
            </a:r>
            <a:endParaRPr lang="en-US" sz="1050" dirty="0"/>
          </a:p>
        </p:txBody>
      </p:sp>
      <p:sp>
        <p:nvSpPr>
          <p:cNvPr id="10" name="Shape 7"/>
          <p:cNvSpPr/>
          <p:nvPr/>
        </p:nvSpPr>
        <p:spPr>
          <a:xfrm>
            <a:off x="4297680" y="1508760"/>
            <a:ext cx="3520440" cy="1965960"/>
          </a:xfrm>
          <a:prstGeom prst="roundRect">
            <a:avLst>
              <a:gd name="adj" fmla="val 3721"/>
            </a:avLst>
          </a:prstGeom>
          <a:solidFill>
            <a:srgbClr val="283A5E"/>
          </a:solidFill>
        </p:spPr>
      </p:sp>
      <p:sp>
        <p:nvSpPr>
          <p:cNvPr id="11" name="Shape 8"/>
          <p:cNvSpPr/>
          <p:nvPr/>
        </p:nvSpPr>
        <p:spPr>
          <a:xfrm>
            <a:off x="4526280" y="1737360"/>
            <a:ext cx="566928" cy="566928"/>
          </a:xfrm>
          <a:prstGeom prst="ellipse">
            <a:avLst/>
          </a:prstGeom>
          <a:solidFill>
            <a:srgbClr val="7A1F3D"/>
          </a:solidFill>
        </p:spPr>
      </p:sp>
      <p:pic>
        <p:nvPicPr>
          <p:cNvPr id="12" name="Image 1" descr="C:\Users\abdta\AppData\Local\Temp\claude\C--Users-abdta-Desktop-FYP\b6a1f8e1-3045-43d7-9335-432e9d622fbb\scratchpad\pptx_build\icons\handshake.png"/>
          <p:cNvPicPr>
            <a:picLocks noChangeAspect="1"/>
          </p:cNvPicPr>
          <p:nvPr/>
        </p:nvPicPr>
        <p:blipFill>
          <a:blip r:embed="rId2"/>
          <a:stretch>
            <a:fillRect/>
          </a:stretch>
        </p:blipFill>
        <p:spPr>
          <a:xfrm>
            <a:off x="4662343" y="1873423"/>
            <a:ext cx="294803" cy="294803"/>
          </a:xfrm>
          <a:prstGeom prst="rect">
            <a:avLst/>
          </a:prstGeom>
        </p:spPr>
      </p:pic>
      <p:sp>
        <p:nvSpPr>
          <p:cNvPr id="13" name="Text 9"/>
          <p:cNvSpPr txBox="1"/>
          <p:nvPr/>
        </p:nvSpPr>
        <p:spPr>
          <a:xfrm>
            <a:off x="5257800" y="176479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Consent</a:t>
            </a:r>
            <a:endParaRPr lang="en-US" sz="1450" dirty="0"/>
          </a:p>
        </p:txBody>
      </p:sp>
      <p:sp>
        <p:nvSpPr>
          <p:cNvPr id="14" name="Text 10"/>
          <p:cNvSpPr txBox="1"/>
          <p:nvPr/>
        </p:nvSpPr>
        <p:spPr>
          <a:xfrm>
            <a:off x="4526280" y="237744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Data use consented; contact only via mediated in-app workflow</a:t>
            </a:r>
            <a:endParaRPr lang="en-US" sz="1050" dirty="0"/>
          </a:p>
        </p:txBody>
      </p:sp>
      <p:sp>
        <p:nvSpPr>
          <p:cNvPr id="15" name="Shape 11"/>
          <p:cNvSpPr/>
          <p:nvPr/>
        </p:nvSpPr>
        <p:spPr>
          <a:xfrm>
            <a:off x="8046720" y="1508760"/>
            <a:ext cx="3520440" cy="1965960"/>
          </a:xfrm>
          <a:prstGeom prst="roundRect">
            <a:avLst>
              <a:gd name="adj" fmla="val 3721"/>
            </a:avLst>
          </a:prstGeom>
          <a:solidFill>
            <a:srgbClr val="283A5E"/>
          </a:solidFill>
        </p:spPr>
      </p:sp>
      <p:sp>
        <p:nvSpPr>
          <p:cNvPr id="16" name="Shape 12"/>
          <p:cNvSpPr/>
          <p:nvPr/>
        </p:nvSpPr>
        <p:spPr>
          <a:xfrm>
            <a:off x="8275320" y="1737360"/>
            <a:ext cx="566928" cy="566928"/>
          </a:xfrm>
          <a:prstGeom prst="ellipse">
            <a:avLst/>
          </a:prstGeom>
          <a:solidFill>
            <a:srgbClr val="7A1F3D"/>
          </a:solidFill>
        </p:spPr>
      </p:sp>
      <p:pic>
        <p:nvPicPr>
          <p:cNvPr id="17" name="Image 2" descr="C:\Users\abdta\AppData\Local\Temp\claude\C--Users-abdta-Desktop-FYP\b6a1f8e1-3045-43d7-9335-432e9d622fbb\scratchpad\pptx_build\icons\shield.png"/>
          <p:cNvPicPr>
            <a:picLocks noChangeAspect="1"/>
          </p:cNvPicPr>
          <p:nvPr/>
        </p:nvPicPr>
        <p:blipFill>
          <a:blip r:embed="rId3"/>
          <a:stretch>
            <a:fillRect/>
          </a:stretch>
        </p:blipFill>
        <p:spPr>
          <a:xfrm>
            <a:off x="8411383" y="1873423"/>
            <a:ext cx="294803" cy="294803"/>
          </a:xfrm>
          <a:prstGeom prst="rect">
            <a:avLst/>
          </a:prstGeom>
        </p:spPr>
      </p:pic>
      <p:sp>
        <p:nvSpPr>
          <p:cNvPr id="18" name="Text 13"/>
          <p:cNvSpPr txBox="1"/>
          <p:nvPr/>
        </p:nvSpPr>
        <p:spPr>
          <a:xfrm>
            <a:off x="9006840" y="176479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Security</a:t>
            </a:r>
            <a:endParaRPr lang="en-US" sz="1450" dirty="0"/>
          </a:p>
        </p:txBody>
      </p:sp>
      <p:sp>
        <p:nvSpPr>
          <p:cNvPr id="19" name="Text 14"/>
          <p:cNvSpPr txBox="1"/>
          <p:nvPr/>
        </p:nvSpPr>
        <p:spPr>
          <a:xfrm>
            <a:off x="8275320" y="237744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Role-based access, encrypted transit, full audit logging</a:t>
            </a:r>
            <a:endParaRPr lang="en-US" sz="1050" dirty="0"/>
          </a:p>
        </p:txBody>
      </p:sp>
      <p:sp>
        <p:nvSpPr>
          <p:cNvPr id="20" name="Shape 15"/>
          <p:cNvSpPr/>
          <p:nvPr/>
        </p:nvSpPr>
        <p:spPr>
          <a:xfrm>
            <a:off x="548640" y="3749040"/>
            <a:ext cx="3520440" cy="1965960"/>
          </a:xfrm>
          <a:prstGeom prst="roundRect">
            <a:avLst>
              <a:gd name="adj" fmla="val 3721"/>
            </a:avLst>
          </a:prstGeom>
          <a:solidFill>
            <a:srgbClr val="283A5E"/>
          </a:solidFill>
        </p:spPr>
      </p:sp>
      <p:sp>
        <p:nvSpPr>
          <p:cNvPr id="21" name="Shape 16"/>
          <p:cNvSpPr/>
          <p:nvPr/>
        </p:nvSpPr>
        <p:spPr>
          <a:xfrm>
            <a:off x="777240" y="3977640"/>
            <a:ext cx="566928" cy="566928"/>
          </a:xfrm>
          <a:prstGeom prst="ellipse">
            <a:avLst/>
          </a:prstGeom>
          <a:solidFill>
            <a:srgbClr val="7A1F3D"/>
          </a:solidFill>
        </p:spPr>
      </p:sp>
      <p:pic>
        <p:nvPicPr>
          <p:cNvPr id="22" name="Image 3" descr="C:\Users\abdta\AppData\Local\Temp\claude\C--Users-abdta-Desktop-FYP\b6a1f8e1-3045-43d7-9335-432e9d622fbb\scratchpad\pptx_build\icons\balance.png"/>
          <p:cNvPicPr>
            <a:picLocks noChangeAspect="1"/>
          </p:cNvPicPr>
          <p:nvPr/>
        </p:nvPicPr>
        <p:blipFill>
          <a:blip r:embed="rId4"/>
          <a:stretch>
            <a:fillRect/>
          </a:stretch>
        </p:blipFill>
        <p:spPr>
          <a:xfrm>
            <a:off x="913303" y="4113703"/>
            <a:ext cx="294803" cy="294803"/>
          </a:xfrm>
          <a:prstGeom prst="rect">
            <a:avLst/>
          </a:prstGeom>
        </p:spPr>
      </p:pic>
      <p:sp>
        <p:nvSpPr>
          <p:cNvPr id="23" name="Text 17"/>
          <p:cNvSpPr txBox="1"/>
          <p:nvPr/>
        </p:nvSpPr>
        <p:spPr>
          <a:xfrm>
            <a:off x="1508760" y="400507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Fairness</a:t>
            </a:r>
            <a:endParaRPr lang="en-US" sz="1450" dirty="0"/>
          </a:p>
        </p:txBody>
      </p:sp>
      <p:sp>
        <p:nvSpPr>
          <p:cNvPr id="24" name="Text 18"/>
          <p:cNvSpPr txBox="1"/>
          <p:nvPr/>
        </p:nvSpPr>
        <p:spPr>
          <a:xfrm>
            <a:off x="777240" y="461772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 xml:space="preserve">NSGA-II carries donor burden and donation recency as objectives, so the same donors are not contacted repeatedly or before they have recovered</a:t>
            </a:r>
            <a:endParaRPr lang="en-US" sz="1050" dirty="0"/>
          </a:p>
        </p:txBody>
      </p:sp>
      <p:sp>
        <p:nvSpPr>
          <p:cNvPr id="25" name="Shape 19"/>
          <p:cNvSpPr/>
          <p:nvPr/>
        </p:nvSpPr>
        <p:spPr>
          <a:xfrm>
            <a:off x="4297680" y="3749040"/>
            <a:ext cx="3520440" cy="1965960"/>
          </a:xfrm>
          <a:prstGeom prst="roundRect">
            <a:avLst>
              <a:gd name="adj" fmla="val 3721"/>
            </a:avLst>
          </a:prstGeom>
          <a:solidFill>
            <a:srgbClr val="283A5E"/>
          </a:solidFill>
        </p:spPr>
      </p:sp>
      <p:sp>
        <p:nvSpPr>
          <p:cNvPr id="26" name="Shape 20"/>
          <p:cNvSpPr/>
          <p:nvPr/>
        </p:nvSpPr>
        <p:spPr>
          <a:xfrm>
            <a:off x="4526280" y="3977640"/>
            <a:ext cx="566928" cy="566928"/>
          </a:xfrm>
          <a:prstGeom prst="ellipse">
            <a:avLst/>
          </a:prstGeom>
          <a:solidFill>
            <a:srgbClr val="7A1F3D"/>
          </a:solidFill>
        </p:spPr>
      </p:sp>
      <p:pic>
        <p:nvPicPr>
          <p:cNvPr id="27" name="Image 4" descr="C:\Users\abdta\AppData\Local\Temp\claude\C--Users-abdta-Desktop-FYP\b6a1f8e1-3045-43d7-9335-432e9d622fbb\scratchpad\pptx_build\icons\eye.png"/>
          <p:cNvPicPr>
            <a:picLocks noChangeAspect="1"/>
          </p:cNvPicPr>
          <p:nvPr/>
        </p:nvPicPr>
        <p:blipFill>
          <a:blip r:embed="rId5"/>
          <a:stretch>
            <a:fillRect/>
          </a:stretch>
        </p:blipFill>
        <p:spPr>
          <a:xfrm>
            <a:off x="4662343" y="4113703"/>
            <a:ext cx="294803" cy="294803"/>
          </a:xfrm>
          <a:prstGeom prst="rect">
            <a:avLst/>
          </a:prstGeom>
        </p:spPr>
      </p:pic>
      <p:sp>
        <p:nvSpPr>
          <p:cNvPr id="28" name="Text 21"/>
          <p:cNvSpPr txBox="1"/>
          <p:nvPr/>
        </p:nvSpPr>
        <p:spPr>
          <a:xfrm>
            <a:off x="5257800" y="400507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Human Oversight</a:t>
            </a:r>
            <a:endParaRPr lang="en-US" sz="1450" dirty="0"/>
          </a:p>
        </p:txBody>
      </p:sp>
      <p:sp>
        <p:nvSpPr>
          <p:cNvPr id="29" name="Text 22"/>
          <p:cNvSpPr txBox="1"/>
          <p:nvPr/>
        </p:nvSpPr>
        <p:spPr>
          <a:xfrm>
            <a:off x="4526280" y="461772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 xml:space="preserve">System recommends only — every donor match and every inter-bank request is reviewed and actioned by a person</a:t>
            </a:r>
            <a:endParaRPr lang="en-US" sz="1050" dirty="0"/>
          </a:p>
        </p:txBody>
      </p:sp>
      <p:sp>
        <p:nvSpPr>
          <p:cNvPr id="30" name="Shape 23"/>
          <p:cNvSpPr/>
          <p:nvPr/>
        </p:nvSpPr>
        <p:spPr>
          <a:xfrm>
            <a:off x="8046720" y="3749040"/>
            <a:ext cx="3520440" cy="1965960"/>
          </a:xfrm>
          <a:prstGeom prst="roundRect">
            <a:avLst>
              <a:gd name="adj" fmla="val 3721"/>
            </a:avLst>
          </a:prstGeom>
          <a:solidFill>
            <a:srgbClr val="283A5E"/>
          </a:solidFill>
        </p:spPr>
      </p:sp>
      <p:sp>
        <p:nvSpPr>
          <p:cNvPr id="31" name="Shape 24"/>
          <p:cNvSpPr/>
          <p:nvPr/>
        </p:nvSpPr>
        <p:spPr>
          <a:xfrm>
            <a:off x="8275320" y="3977640"/>
            <a:ext cx="566928" cy="566928"/>
          </a:xfrm>
          <a:prstGeom prst="ellipse">
            <a:avLst/>
          </a:prstGeom>
          <a:solidFill>
            <a:srgbClr val="C9A227"/>
          </a:solidFill>
        </p:spPr>
      </p:sp>
      <p:pic>
        <p:nvPicPr>
          <p:cNvPr id="32" name="Image 5" descr="C:\Users\abdta\AppData\Local\Temp\claude\C--Users-abdta-Desktop-FYP\b6a1f8e1-3045-43d7-9335-432e9d622fbb\scratchpad\pptx_build\icons\gavel.png"/>
          <p:cNvPicPr>
            <a:picLocks noChangeAspect="1"/>
          </p:cNvPicPr>
          <p:nvPr/>
        </p:nvPicPr>
        <p:blipFill>
          <a:blip r:embed="rId6"/>
          <a:stretch>
            <a:fillRect/>
          </a:stretch>
        </p:blipFill>
        <p:spPr>
          <a:xfrm>
            <a:off x="8411383" y="4113703"/>
            <a:ext cx="294803" cy="294803"/>
          </a:xfrm>
          <a:prstGeom prst="rect">
            <a:avLst/>
          </a:prstGeom>
        </p:spPr>
      </p:pic>
      <p:sp>
        <p:nvSpPr>
          <p:cNvPr id="33" name="Text 25"/>
          <p:cNvSpPr txBox="1"/>
          <p:nvPr/>
        </p:nvSpPr>
        <p:spPr>
          <a:xfrm>
            <a:off x="9006840" y="4005072"/>
            <a:ext cx="2423160" cy="365760"/>
          </a:xfrm>
          <a:prstGeom prst="rect">
            <a:avLst/>
          </a:prstGeom>
          <a:noFill/>
        </p:spPr>
        <p:txBody>
          <a:bodyPr wrap="square" lIns="0" tIns="0" rIns="0" bIns="0" rtlCol="0" anchor="ctr"/>
          <a:lstStyle/>
          <a:p>
            <a:pPr marL="0" indent="0">
              <a:buNone/>
            </a:pPr>
            <a:r>
              <a:rPr lang="en-US" sz="1450" b="1" dirty="0">
                <a:solidFill>
                  <a:srgbClr val="FFFFFF"/>
                </a:solidFill>
                <a:latin typeface="Cambria" panose="02040503050406030204" pitchFamily="34" charset="0"/>
                <a:ea typeface="Cambria" panose="02040503050406030204" pitchFamily="34" charset="-122"/>
                <a:cs typeface="Cambria" panose="02040503050406030204" pitchFamily="34" charset="-120"/>
              </a:rPr>
              <a:t>Legal</a:t>
            </a:r>
            <a:endParaRPr lang="en-US" sz="1450" dirty="0"/>
          </a:p>
        </p:txBody>
      </p:sp>
      <p:sp>
        <p:nvSpPr>
          <p:cNvPr id="34" name="Shape 26"/>
          <p:cNvSpPr/>
          <p:nvPr/>
        </p:nvSpPr>
        <p:spPr>
          <a:xfrm>
            <a:off x="10652760" y="3950208"/>
            <a:ext cx="749808" cy="274320"/>
          </a:xfrm>
          <a:prstGeom prst="roundRect">
            <a:avLst>
              <a:gd name="adj" fmla="val 50000"/>
            </a:avLst>
          </a:prstGeom>
          <a:solidFill>
            <a:srgbClr val="C9A227"/>
          </a:solidFill>
        </p:spPr>
      </p:sp>
      <p:sp>
        <p:nvSpPr>
          <p:cNvPr id="35" name="Text 27"/>
          <p:cNvSpPr txBox="1"/>
          <p:nvPr/>
        </p:nvSpPr>
        <p:spPr>
          <a:xfrm>
            <a:off x="10652760" y="3950208"/>
            <a:ext cx="749808" cy="274320"/>
          </a:xfrm>
          <a:prstGeom prst="rect">
            <a:avLst/>
          </a:prstGeom>
          <a:noFill/>
        </p:spPr>
        <p:txBody>
          <a:bodyPr wrap="square" lIns="0" tIns="0" rIns="0" bIns="0" rtlCol="0" anchor="ctr"/>
          <a:lstStyle/>
          <a:p>
            <a:pPr marL="0" indent="0" algn="ctr">
              <a:buNone/>
            </a:pPr>
            <a:r>
              <a:rPr lang="en-US" sz="900" b="1" dirty="0">
                <a:solidFill>
                  <a:srgbClr val="1F2A44"/>
                </a:solidFill>
                <a:latin typeface="Calibri" panose="020F0502020204030204" pitchFamily="34" charset="0"/>
                <a:ea typeface="Calibri" panose="020F0502020204030204" pitchFamily="34" charset="-122"/>
                <a:cs typeface="Calibri" panose="020F0502020204030204" pitchFamily="34" charset="-120"/>
              </a:rPr>
              <a:t>OPEN</a:t>
            </a:r>
            <a:endParaRPr lang="en-US" sz="900" dirty="0"/>
          </a:p>
        </p:txBody>
      </p:sp>
      <p:sp>
        <p:nvSpPr>
          <p:cNvPr id="36" name="Text 28"/>
          <p:cNvSpPr txBox="1"/>
          <p:nvPr/>
        </p:nvSpPr>
        <p:spPr>
          <a:xfrm>
            <a:off x="8275320" y="4617720"/>
            <a:ext cx="3063240" cy="960120"/>
          </a:xfrm>
          <a:prstGeom prst="rect">
            <a:avLst/>
          </a:prstGeom>
          <a:noFill/>
        </p:spPr>
        <p:txBody>
          <a:bodyPr wrap="square" lIns="0" tIns="0" rIns="0" bIns="0" rtlCol="0" anchor="t"/>
          <a:lstStyle/>
          <a:p>
            <a:pPr marL="0" indent="0">
              <a:lnSpc>
                <a:spcPct val="115000"/>
              </a:lnSpc>
              <a:buNone/>
            </a:pPr>
            <a:r>
              <a:rPr lang="en-US" sz="1050" dirty="0">
                <a:solidFill>
                  <a:srgbClr val="D7DBE6"/>
                </a:solidFill>
                <a:latin typeface="Calibri" panose="020F0502020204030204" pitchFamily="34" charset="0"/>
                <a:ea typeface="Calibri" panose="020F0502020204030204" pitchFamily="34" charset="-122"/>
                <a:cs typeface="Calibri" panose="020F0502020204030204" pitchFamily="34" charset="-120"/>
              </a:rPr>
              <a:t>[PLACEHOLDER — CONFIRM UNIVERSITY/LEGAL REQUIREMENTS] — not yet identified</a:t>
            </a:r>
            <a:endParaRPr lang="en-US" sz="1050" dirty="0"/>
          </a:p>
        </p:txBody>
      </p:sp>
      <p:sp>
        <p:nvSpPr>
          <p:cNvPr id="37" name="Text 29"/>
          <p:cNvSpPr txBox="1"/>
          <p:nvPr/>
        </p:nvSpPr>
        <p:spPr>
          <a:xfrm>
            <a:off x="548640" y="6263640"/>
            <a:ext cx="11064240" cy="365760"/>
          </a:xfrm>
          <a:prstGeom prst="rect">
            <a:avLst/>
          </a:prstGeom>
          <a:noFill/>
        </p:spPr>
        <p:txBody>
          <a:bodyPr wrap="square" lIns="0" tIns="0" rIns="0" bIns="0" rtlCol="0" anchor="ctr"/>
          <a:lstStyle/>
          <a:p>
            <a:pPr marL="0" indent="0">
              <a:buNone/>
            </a:pPr>
            <a:r>
              <a:rPr lang="en-US" sz="1100" i="1" dirty="0">
                <a:solidFill>
                  <a:srgbClr val="B9B0C4"/>
                </a:solidFill>
                <a:latin typeface="Calibri" panose="020F0502020204030204" pitchFamily="34" charset="0"/>
                <a:ea typeface="Calibri" panose="020F0502020204030204" pitchFamily="34" charset="-122"/>
                <a:cs typeface="Calibri" panose="020F0502020204030204" pitchFamily="34" charset="-120"/>
              </a:rPr>
              <a:t>The system supports coordination and computational recommendation — it is never presented as an autonomous clinical decision-maker.</a:t>
            </a:r>
            <a:endParaRPr lang="en-US" sz="1100" dirty="0"/>
          </a:p>
        </p:txBody>
      </p:sp>
      <p:sp>
        <p:nvSpPr>
          <p:cNvPr id="38" name="Text 30"/>
          <p:cNvSpPr txBox="1"/>
          <p:nvPr/>
        </p:nvSpPr>
        <p:spPr>
          <a:xfrm>
            <a:off x="11002975" y="6473952"/>
            <a:ext cx="914400" cy="274320"/>
          </a:xfrm>
          <a:prstGeom prst="rect">
            <a:avLst/>
          </a:prstGeom>
          <a:noFill/>
        </p:spPr>
        <p:txBody>
          <a:bodyPr wrap="square" lIns="0" tIns="0" rIns="0" bIns="0" rtlCol="0" anchor="ctr"/>
          <a:lstStyle/>
          <a:p>
            <a:pPr marL="0" indent="0" algn="r">
              <a:buNone/>
            </a:pPr>
            <a:r>
              <a:rPr lang="en-US" sz="1000" dirty="0">
                <a:solidFill>
                  <a:srgbClr val="C9C4C8"/>
                </a:solidFill>
                <a:latin typeface="Calibri" panose="020F0502020204030204" pitchFamily="34" charset="0"/>
                <a:ea typeface="Calibri" panose="020F0502020204030204" pitchFamily="34" charset="-122"/>
                <a:cs typeface="Calibri" panose="020F0502020204030204"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6656</Words>
  <Application>WPS Presentation</Application>
  <PresentationFormat>On-screen Show (16:9)</PresentationFormat>
  <Paragraphs>396</Paragraphs>
  <Slides>10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saeed</cp:lastModifiedBy>
  <cp:revision>4</cp:revision>
  <dcterms:created xsi:type="dcterms:W3CDTF">2026-09-07T10:42:00Z</dcterms:created>
  <dcterms:modified xsi:type="dcterms:W3CDTF">2026-09-08T14:32:58Z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B7C30A66FCB8400D9613717698C5AB3E_13</vt:lpwstr>
  </property>
  <property fmtid="{D5CDD505-2E9C-101B-9397-08002B2CF9AE}" pid="3" name="KSOProductBuildVer">
    <vt:lpwstr>2057-12.2.0.23206</vt:lpwstr>
  </property>
</Properties>
</file>